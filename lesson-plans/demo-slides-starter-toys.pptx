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开场放 Hello Song（音乐 1：Fluffing a Duck 可作为进场背景）。老师和每个孩子击掌 Hello!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Momo（手偶）走到每个孩子面前：Hello! I'm Momo. What's your name? 孩子答 I'm ___. 说不出的，Momo 小声示范 I'm… 让他接。每人 1 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Momo says: Stand up!（手掌向上）Sit down!（向下）Hands up!（举手）各 3 轮越来越快。最后用中文说一次：举手再说话。这是今天唯一用中文讲的规则。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拿出鼓鼓的布袋摇一摇：Listen! What's in the bag? 请一个孩子摸：Touch. Don't look! 先让孩子中文猜。音乐 2：Sneaky Snitch 可低声作背景。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拉出玩具 "A ball!" ×3（第 3 遍夸张口型）② Say it with me: ball, ball, ball.（拍手）③ 悄悄话 → 大声 → 机器人声 ④ 递给一个孩子 What is it? 答后传下去。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拉出玩具 "A balloon!" ×3（第 3 遍夸张口型）② Say it with me: balloon, balloon, balloon.（拍手）③ 悄悄话 → 大声 → 机器人声 ④ 递给一个孩子 What is it? 答后传下去。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拉出玩具 "A teddy bear!" ×3（第 3 遍夸张口型）② Say it with me: teddy bear, teddy bear, teddy bear.（拍手）③ 悄悄话 → 大声 → 机器人声 ④ 递给一个孩子 What is it? 答后传下去。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拉出玩具 "A kite!" ×3（第 3 遍夸张口型）② Say it with me: kite, kite, kite.（拍手）③ 悄悄话 → 大声 → 机器人声 ④ 递给一个孩子 What is it? 答后传下去。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拉出玩具 "A robot!" ×3（第 3 遍夸张口型）② Say it with me: robot, robot, robot.（拍手）③ 悄悄话 → 大声 → 机器人声 ④ 递给一个孩子 What is it? 答后传下去。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四步：① 拉出玩具 "A top!" ×3（第 3 遍夸张口型）② Say it with me: top, top, top.（拍手）③ 悄悄话 → 大声 → 机器人声 ④ 递给一个孩子 What is it? 答后传下去。  陀螺当场转一下。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your eyes!（藏 1 个）Open! What's missing? 做 3 轮，第 3 轮藏 2 个。用真实玩具做，屏幕上的只是提示。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your eyes!（藏 1 个）Open! What's missing? 做 3 轮，第 3 轮藏 2 个。用真实玩具做，屏幕上的只是提示。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your eyes!（藏 1 个）Open! What's missing? 做 3 轮，第 3 轮藏 2 个。用真实玩具做，屏幕上的只是提示。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老师举球问 Momo：What is it? Momo：It's a ball.（点头）换 3 个玩具。再问全班，要求整句——用三根手指代表 It's – a – ball，孩子漏词时只举手指不说话。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放音乐 3（Monkeys Spinning Monkeys），孩子传气球；音乐停，拿到气球的孩子站起来，老师从袋里抽一个玩具问 What is it? 6–8 轮，每人至少 1 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玩具放回袋子，老师只摸不看：Is it a teddy bear?（点头）Yes, it is! 再摸：Is it a ball? … No, it isn't. It's a robot.（摇头）示范 3 次，孩子跟说各 3 遍。然后孩子轮流摸，全班问、1 人答，6 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揭开白板上的 Bb：What's this letter?（bee）Yes! Its NAME is B. But listen—its SOUND is /b/ /b/ /b/.（手放喉咙）ball—/b/! balloon—/b/! bear—/b/! 孩子手放喉咙跟说 /b/ 5 遍。/b/ 要短促，不要 buh。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揭开 Tt：Name: T. Sound: /t/ /t/ /t/.（手指放唇前感受气流）teddy—/t/! top—/t/! ten—/t/!（举 10 根手指）吹纸片实验：/t/ 吹得动、/b/ 吹不动，每人一小片纸试。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地上两个篮子贴 Bb / Tt。老师举玩具或词卡说词：ball… /b/ or /t/? 全班齐说音，再请一人放篮子。10 个词：ball, balloon, bear, blocks（绘本第 1 页）, book / teddy, top, ten, table, truck（图卡）。放错不说 No，只重复首音 b-b-ball? 让他自己换。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Bb、Tt 字母卡贴白板两侧，两个孩子各拿一个苍蝇拍背对白板。老师说词（Truck!），孩子转身拍对应字母，全班喊音。8 轮，每轮换人。拍错不扣分。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举书：Look! What's this book about? Toys! 示范从左到右翻页和指读方向。对家长 10 秒：美国小学分级读物最低级 aa，今天孩子会自己读出一页。老师先指读每页 2 遍，第 2 遍 The… 停住让孩子接 bear / kite / robot；其余 5 页老师读 + 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3 页：The blocks.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4 页：The bear. ★ 孩子接词 / 独立读的页。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5 页：The paint.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6 页：The drum.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7 页：The plane.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8 页：The wagon. 老师读 + 动作演示，孩子听懂并指图。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9 页：The kite. ★ 孩子接词 / 独立读的页。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《Toys》第 10 页：The robot. ★ 孩子接词 / 独立读的页。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 the 词卡：This little word is the. 每页找 the。再：Find /b/ toys in the book!（bear, blocks）Where's the /t/…? No /t/ toys! But we have a top!（拿出陀螺）贴小星星。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Show! 每人 30–40 秒：选玩具站到舞台线 → 老师问 What is it? → 整句答 → 翻到 bear / kite / robot 任一页读 The ___. → 全班鼓掌 Yes! It's a ___! → 贴纸。挑战档追问 Is it a kite? 让他答 No, it isn't. 家长拍摄。音乐 4：Carefree 作背景。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Momo 和每个孩子击掌：Goodbye, ___! 孩子回 Goodbye, Momo! 然后对家长说三句话（见教案 ⑦），发家长手册。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课后给家长看的一页，老师口头说明三句话即可。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素材来源，放映时可跳过。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microsoft.com/office/2007/relationships/media" Target="../media/media1.mp3"/><Relationship Id="rId11" Type="http://schemas.openxmlformats.org/officeDocument/2006/relationships/video" Target="../media/media1.mp3"/><Relationship Id="rId1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microsoft.com/office/2007/relationships/media" Target="../media/media2.mp3"/><Relationship Id="rId5" Type="http://schemas.openxmlformats.org/officeDocument/2006/relationships/video" Target="../media/media2.mp3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microsoft.com/office/2007/relationships/media" Target="../media/media3.mp3"/><Relationship Id="rId5" Type="http://schemas.openxmlformats.org/officeDocument/2006/relationships/video" Target="../media/media3.mp3"/><Relationship Id="rId6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jpg"/><Relationship Id="rId4" Type="http://schemas.microsoft.com/office/2007/relationships/media" Target="../media/media4.mp3"/><Relationship Id="rId5" Type="http://schemas.openxmlformats.org/officeDocument/2006/relationships/video" Target="../media/media4.mp3"/><Relationship Id="rId6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1463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8000" b="1" i="0">
                <a:solidFill>
                  <a:srgbClr val="1F3C88"/>
                </a:solidFill>
                <a:latin typeface="Comic Sans MS"/>
              </a:rPr>
              <a:t>My Toys!</a:t>
            </a:r>
          </a:p>
        </p:txBody>
      </p:sp>
      <p:pic>
        <p:nvPicPr>
          <p:cNvPr id="4" name="Picture 3" descr="bo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3840480" cy="3840480"/>
          </a:xfrm>
          <a:prstGeom prst="rect">
            <a:avLst/>
          </a:prstGeom>
        </p:spPr>
      </p:pic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03120"/>
            <a:ext cx="1920240" cy="1920240"/>
          </a:xfrm>
          <a:prstGeom prst="rect">
            <a:avLst/>
          </a:prstGeom>
        </p:spPr>
      </p:pic>
      <p:pic>
        <p:nvPicPr>
          <p:cNvPr id="6" name="Picture 5" descr="ballo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103120"/>
            <a:ext cx="1920240" cy="1920240"/>
          </a:xfrm>
          <a:prstGeom prst="rect">
            <a:avLst/>
          </a:prstGeom>
        </p:spPr>
      </p:pic>
      <p:pic>
        <p:nvPicPr>
          <p:cNvPr id="7" name="Picture 6" descr="to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2103120"/>
            <a:ext cx="1920240" cy="1920240"/>
          </a:xfrm>
          <a:prstGeom prst="rect">
            <a:avLst/>
          </a:prstGeom>
        </p:spPr>
      </p:pic>
      <p:pic>
        <p:nvPicPr>
          <p:cNvPr id="8" name="Picture 7" descr="b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162" y="4206240"/>
            <a:ext cx="1773675" cy="1920240"/>
          </a:xfrm>
          <a:prstGeom prst="rect">
            <a:avLst/>
          </a:prstGeom>
        </p:spPr>
      </p:pic>
      <p:pic>
        <p:nvPicPr>
          <p:cNvPr id="9" name="Picture 8" descr="k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4189" y="4206240"/>
            <a:ext cx="1639381" cy="1920240"/>
          </a:xfrm>
          <a:prstGeom prst="rect">
            <a:avLst/>
          </a:prstGeom>
        </p:spPr>
      </p:pic>
      <p:pic>
        <p:nvPicPr>
          <p:cNvPr id="10" name="Picture 9" descr="ro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4204" y="4206240"/>
            <a:ext cx="1197111" cy="1920240"/>
          </a:xfrm>
          <a:prstGeom prst="rect">
            <a:avLst/>
          </a:prstGeom>
        </p:spPr>
      </p:pic>
      <p:pic>
        <p:nvPicPr>
          <p:cNvPr id="11" name="Fluffing_a_Duck.mp3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74320" y="6035040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126479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进场音乐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</a:t>
            </a:r>
          </a:p>
        </p:txBody>
      </p:sp>
      <p:pic>
        <p:nvPicPr>
          <p:cNvPr id="3" name="Picture 2" descr="bo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39"/>
            <a:ext cx="4572000" cy="4572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03520" y="1280160"/>
            <a:ext cx="64008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>Hello! I'm Momo.</a:t>
            </a:r>
          </a:p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>What's your name?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206240"/>
            <a:ext cx="4572000" cy="1371600"/>
          </a:xfrm>
          <a:prstGeom prst="roundRect">
            <a:avLst>
              <a:gd name="adj" fmla="val 25000"/>
            </a:avLst>
          </a:prstGeom>
          <a:solidFill>
            <a:srgbClr val="FFF4C2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333333"/>
                </a:solidFill>
                <a:latin typeface="Comic Sans MS"/>
              </a:rPr>
              <a:t>I'm ____ 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🙋  Momo says…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47472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3000" b="1" i="0">
                <a:solidFill>
                  <a:srgbClr val="333333"/>
                </a:solidFill>
                <a:latin typeface="Comic Sans MS"/>
              </a:rPr>
              <a:t>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06240"/>
            <a:ext cx="3474720" cy="1005840"/>
          </a:xfrm>
          <a:prstGeom prst="roundRect">
            <a:avLst>
              <a:gd name="adj" fmla="val 25000"/>
            </a:avLst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FFFFFF"/>
                </a:solidFill>
                <a:latin typeface="Comic Sans MS"/>
              </a:rPr>
              <a:t>Stand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347472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3000" b="1" i="0">
                <a:solidFill>
                  <a:srgbClr val="333333"/>
                </a:solidFill>
                <a:latin typeface="Comic Sans MS"/>
              </a:rPr>
              <a:t>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206240"/>
            <a:ext cx="3474720" cy="100584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FFFFFF"/>
                </a:solidFill>
                <a:latin typeface="Comic Sans MS"/>
              </a:rPr>
              <a:t>Sit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47472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3000" b="1" i="0">
                <a:solidFill>
                  <a:srgbClr val="333333"/>
                </a:solidFill>
                <a:latin typeface="Comic Sans MS"/>
              </a:rPr>
              <a:t>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206240"/>
            <a:ext cx="3474720" cy="100584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FFFFFF"/>
                </a:solidFill>
                <a:latin typeface="Comic Sans MS"/>
              </a:rPr>
              <a:t>Hands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577840"/>
            <a:ext cx="941832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600" b="0" i="0">
                <a:solidFill>
                  <a:srgbClr val="777777"/>
                </a:solidFill>
                <a:latin typeface="Comic Sans MS"/>
              </a:rPr>
              <a:t>Hands up = I want to talk  🗣️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🎒  What's in the bag?</a:t>
            </a:r>
          </a:p>
        </p:txBody>
      </p:sp>
      <p:pic>
        <p:nvPicPr>
          <p:cNvPr id="4" name="Picture 3" descr="b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280160"/>
            <a:ext cx="4572000" cy="4572000"/>
          </a:xfrm>
          <a:prstGeom prst="rect">
            <a:avLst/>
          </a:prstGeom>
        </p:spPr>
      </p:pic>
      <p:pic>
        <p:nvPicPr>
          <p:cNvPr id="5" name="Sneaky_Snitch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4320" y="603504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126479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神秘袋音乐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5</a:t>
            </a:r>
          </a:p>
        </p:txBody>
      </p:sp>
      <p:pic>
        <p:nvPicPr>
          <p:cNvPr id="3" name="Picture 2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ball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6</a:t>
            </a:r>
          </a:p>
        </p:txBody>
      </p:sp>
      <p:pic>
        <p:nvPicPr>
          <p:cNvPr id="3" name="Picture 2" descr="ballo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balloon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7</a:t>
            </a:r>
          </a:p>
        </p:txBody>
      </p:sp>
      <p:pic>
        <p:nvPicPr>
          <p:cNvPr id="3" name="Picture 2" descr="b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550" y="457200"/>
            <a:ext cx="447641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teddy bear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8</a:t>
            </a:r>
          </a:p>
        </p:txBody>
      </p:sp>
      <p:pic>
        <p:nvPicPr>
          <p:cNvPr id="3" name="Picture 2" descr="k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016" y="457200"/>
            <a:ext cx="413748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kite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9</a:t>
            </a:r>
          </a:p>
        </p:txBody>
      </p:sp>
      <p:pic>
        <p:nvPicPr>
          <p:cNvPr id="3" name="Picture 2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19" y="457200"/>
            <a:ext cx="3021281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robot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10</a:t>
            </a:r>
          </a:p>
        </p:txBody>
      </p:sp>
      <p:pic>
        <p:nvPicPr>
          <p:cNvPr id="3" name="Picture 2" descr="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7200" b="1" i="0">
                <a:solidFill>
                  <a:srgbClr val="1F3C88"/>
                </a:solidFill>
                <a:latin typeface="Comic Sans MS"/>
              </a:rPr>
              <a:t>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👀  What's missing?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200399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ball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8" name="Picture 7" descr="ballo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799" y="146304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79" y="3200399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balloon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1" name="Picture 10" descr="b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142" y="1463040"/>
            <a:ext cx="1604754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19" y="3200399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teddy bear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4" name="Picture 13" descr="k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5815" y="4114800"/>
            <a:ext cx="1483249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5852160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kite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7" name="Picture 16" descr="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4929" y="4114800"/>
            <a:ext cx="1083101" cy="1737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7679" y="5852160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robot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20" name="Picture 19" descr="to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39" y="4114800"/>
            <a:ext cx="1737360" cy="1737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19" y="5852160"/>
            <a:ext cx="3657600" cy="502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200" b="0" i="0">
                <a:solidFill>
                  <a:srgbClr val="777777"/>
                </a:solidFill>
                <a:latin typeface="Comic Sans MS"/>
              </a:rPr>
              <a:t>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👀  What's missing?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1737360" cy="1737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9767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7" name="Picture 6" descr="ballo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799" y="1463040"/>
            <a:ext cx="173736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1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371600"/>
            <a:ext cx="3657600" cy="23774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2000" b="1" i="0">
                <a:solidFill>
                  <a:srgbClr val="FF6B6B"/>
                </a:solidFill>
                <a:latin typeface="Comic Sans MS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1" name="Picture 10" descr="k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815" y="4114800"/>
            <a:ext cx="1483249" cy="1737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9767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3" name="Picture 12" descr="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4929" y="4114800"/>
            <a:ext cx="1083101" cy="17373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4671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5" name="Picture 14" descr="to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39" y="41148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👀  What's missing?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1737360" cy="1737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9767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7" name="Picture 6" descr="ballo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799" y="1463040"/>
            <a:ext cx="173736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19" y="137160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9" name="Picture 8" descr="b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142" y="1463040"/>
            <a:ext cx="1604754" cy="1737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1" name="Picture 10" descr="k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5815" y="4114800"/>
            <a:ext cx="1483249" cy="1737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9767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pic>
        <p:nvPicPr>
          <p:cNvPr id="13" name="Picture 12" descr="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4929" y="4114800"/>
            <a:ext cx="1083101" cy="17373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46719" y="4023360"/>
            <a:ext cx="3657600" cy="2377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023360"/>
            <a:ext cx="3657600" cy="23774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2000" b="1" i="0">
                <a:solidFill>
                  <a:srgbClr val="FF6B6B"/>
                </a:solidFill>
                <a:latin typeface="Comic Sans MS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❓  What is it?</a:t>
            </a:r>
          </a:p>
        </p:txBody>
      </p:sp>
      <p:pic>
        <p:nvPicPr>
          <p:cNvPr id="4" name="Picture 3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365760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0" y="2011680"/>
            <a:ext cx="6583680" cy="1645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5600" b="1" i="0">
                <a:solidFill>
                  <a:srgbClr val="FF6B6B"/>
                </a:solidFill>
                <a:latin typeface="Comic Sans MS"/>
              </a:rPr>
              <a:t>It's </a:t>
            </a:r>
            <a:r>
              <a:rPr sz="5600" b="1" i="0">
                <a:solidFill>
                  <a:srgbClr val="2BB673"/>
                </a:solidFill>
                <a:latin typeface="Comic Sans MS"/>
              </a:rPr>
              <a:t>a </a:t>
            </a:r>
            <a:r>
              <a:rPr sz="5600" b="1" i="0">
                <a:solidFill>
                  <a:srgbClr val="1F3C88"/>
                </a:solidFill>
                <a:latin typeface="Comic Sans MS"/>
              </a:rPr>
              <a:t>ball.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931920"/>
            <a:ext cx="658368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333333"/>
                </a:solidFill>
                <a:latin typeface="Comic Sans MS"/>
              </a:rPr>
              <a:t>☝️ ✌️ 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029200"/>
            <a:ext cx="658368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800" b="0" i="0">
                <a:solidFill>
                  <a:srgbClr val="777777"/>
                </a:solidFill>
                <a:latin typeface="Comic Sans MS"/>
              </a:rPr>
              <a:t>It's  –  a  –  ball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🎈  Pass the Balloon!</a:t>
            </a:r>
          </a:p>
        </p:txBody>
      </p:sp>
      <p:pic>
        <p:nvPicPr>
          <p:cNvPr id="4" name="Picture 3" descr="ballo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38912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2011680"/>
            <a:ext cx="5760720" cy="2560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>What is it?</a:t>
            </a:r>
          </a:p>
          <a:p>
            <a:pPr algn="ctr"/>
            <a:r>
              <a:rPr sz="4000" b="1" i="0">
                <a:solidFill>
                  <a:srgbClr val="333333"/>
                </a:solidFill>
                <a:latin typeface="Comic Sans MS"/>
              </a:rPr>
              <a:t>It's a ____ .</a:t>
            </a:r>
          </a:p>
        </p:txBody>
      </p:sp>
      <p:pic>
        <p:nvPicPr>
          <p:cNvPr id="6" name="Monkeys_Spinning_Monkeys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43600" y="493776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5029200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音乐停 → 回答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🤔  Is it a ____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20116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0000" b="1" i="0">
                <a:solidFill>
                  <a:srgbClr val="333333"/>
                </a:solidFill>
                <a:latin typeface="Comic Sans MS"/>
              </a:rPr>
              <a:t>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303520" cy="1371600"/>
          </a:xfrm>
          <a:prstGeom prst="roundRect">
            <a:avLst>
              <a:gd name="adj" fmla="val 25000"/>
            </a:avLst>
          </a:prstGeom>
          <a:solidFill>
            <a:srgbClr val="E6F7F1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333333"/>
                </a:solidFill>
                <a:latin typeface="Comic Sans MS"/>
              </a:rPr>
              <a:t>Yes, it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03520" cy="20116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0000" b="1" i="0">
                <a:solidFill>
                  <a:srgbClr val="333333"/>
                </a:solidFill>
                <a:latin typeface="Comic Sans MS"/>
              </a:rPr>
              <a:t>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566160"/>
            <a:ext cx="5303520" cy="1371600"/>
          </a:xfrm>
          <a:prstGeom prst="roundRect">
            <a:avLst>
              <a:gd name="adj" fmla="val 25000"/>
            </a:avLst>
          </a:prstGeom>
          <a:solidFill>
            <a:srgbClr val="FDE7E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333333"/>
                </a:solidFill>
                <a:latin typeface="Comic Sans MS"/>
              </a:rPr>
              <a:t>No, it isn't.</a:t>
            </a:r>
          </a:p>
        </p:txBody>
      </p:sp>
      <p:pic>
        <p:nvPicPr>
          <p:cNvPr id="8" name="Picture 7" descr="b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8463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48640"/>
            <a:ext cx="4389120" cy="2926080"/>
          </a:xfrm>
          <a:prstGeom prst="roundRect">
            <a:avLst>
              <a:gd name="adj" fmla="val 25000"/>
            </a:avLst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0" b="1" i="0">
                <a:solidFill>
                  <a:srgbClr val="FFFFFF"/>
                </a:solidFill>
                <a:latin typeface="Comic Sans MS"/>
              </a:rPr>
              <a:t>B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420624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400" b="1" i="0">
                <a:solidFill>
                  <a:srgbClr val="2D9CDB"/>
                </a:solidFill>
                <a:latin typeface="Comic Sans MS"/>
              </a:rPr>
              <a:t>/b/  /b/  /b/</a:t>
            </a:r>
          </a:p>
        </p:txBody>
      </p:sp>
      <p:pic>
        <p:nvPicPr>
          <p:cNvPr id="5" name="Picture 4" descr="b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9728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D9CDB"/>
                </a:solidFill>
                <a:latin typeface="Comic Sans MS"/>
              </a:rPr>
              <a:t>b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all</a:t>
            </a:r>
          </a:p>
        </p:txBody>
      </p:sp>
      <p:pic>
        <p:nvPicPr>
          <p:cNvPr id="7" name="Picture 6" descr="ballo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09728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D9CDB"/>
                </a:solidFill>
                <a:latin typeface="Comic Sans MS"/>
              </a:rPr>
              <a:t>b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alloon</a:t>
            </a:r>
          </a:p>
        </p:txBody>
      </p:sp>
      <p:pic>
        <p:nvPicPr>
          <p:cNvPr id="9" name="Picture 8" descr="b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1006608"/>
            <a:ext cx="2194560" cy="23759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7552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D9CDB"/>
                </a:solidFill>
                <a:latin typeface="Comic Sans MS"/>
              </a:rPr>
              <a:t>b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120640"/>
            <a:ext cx="676656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400" b="0" i="0">
                <a:solidFill>
                  <a:srgbClr val="777777"/>
                </a:solidFill>
                <a:latin typeface="微软雅黑"/>
              </a:rPr>
              <a:t>✋ 摸喉咙 · 会振动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48640"/>
            <a:ext cx="4389120" cy="292608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0" b="1" i="0">
                <a:solidFill>
                  <a:srgbClr val="FFFFFF"/>
                </a:solidFill>
                <a:latin typeface="Comic Sans MS"/>
              </a:rPr>
              <a:t>T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4206240" cy="109728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400" b="1" i="0">
                <a:solidFill>
                  <a:srgbClr val="2BB673"/>
                </a:solidFill>
                <a:latin typeface="Comic Sans MS"/>
              </a:rPr>
              <a:t>/t/  /t/  /t/</a:t>
            </a:r>
          </a:p>
        </p:txBody>
      </p:sp>
      <p:pic>
        <p:nvPicPr>
          <p:cNvPr id="5" name="Picture 4" descr="b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06608"/>
            <a:ext cx="2194560" cy="23759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BB673"/>
                </a:solidFill>
                <a:latin typeface="Comic Sans MS"/>
              </a:rPr>
              <a:t>t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eddy</a:t>
            </a:r>
          </a:p>
        </p:txBody>
      </p:sp>
      <p:pic>
        <p:nvPicPr>
          <p:cNvPr id="7" name="Picture 6" descr="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09728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BB673"/>
                </a:solidFill>
                <a:latin typeface="Comic Sans MS"/>
              </a:rPr>
              <a:t>t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914400"/>
            <a:ext cx="2194560" cy="25603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1000" b="1" i="0">
                <a:solidFill>
                  <a:srgbClr val="333333"/>
                </a:solidFill>
                <a:latin typeface="Comic Sans MS"/>
              </a:rPr>
              <a:t>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3657600"/>
            <a:ext cx="219456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3400" b="1" i="0">
                <a:solidFill>
                  <a:srgbClr val="2BB673"/>
                </a:solidFill>
                <a:latin typeface="Comic Sans MS"/>
              </a:rPr>
              <a:t>t</a:t>
            </a:r>
            <a:r>
              <a:rPr sz="3400" b="1" i="0">
                <a:solidFill>
                  <a:srgbClr val="333333"/>
                </a:solidFill>
                <a:latin typeface="Comic Sans MS"/>
              </a:rPr>
              <a:t>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120640"/>
            <a:ext cx="676656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400" b="0" i="0">
                <a:solidFill>
                  <a:srgbClr val="777777"/>
                </a:solidFill>
                <a:latin typeface="微软雅黑"/>
              </a:rPr>
              <a:t>🍃 纸片实验：/t/ 吹得动，/b/ 吹不动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🧺  /b/  or  /t/ ?</a:t>
            </a:r>
          </a:p>
        </p:txBody>
      </p:sp>
      <p:pic>
        <p:nvPicPr>
          <p:cNvPr id="4" name="Picture 3" descr="baske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240" y="1280160"/>
            <a:ext cx="552704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749039" y="2743200"/>
            <a:ext cx="1097280" cy="914400"/>
          </a:xfrm>
          <a:prstGeom prst="roundRect">
            <a:avLst>
              <a:gd name="adj" fmla="val 25000"/>
            </a:avLst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5400" b="1" i="0">
                <a:solidFill>
                  <a:srgbClr val="FFFFFF"/>
                </a:solidFill>
                <a:latin typeface="Comic Sans MS"/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743200"/>
            <a:ext cx="1097280" cy="91440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5400" b="1" i="0">
                <a:solidFill>
                  <a:srgbClr val="FFFFFF"/>
                </a:solidFill>
                <a:latin typeface="Comic Sans MS"/>
              </a:rPr>
              <a:t>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⚽ ball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57200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🎈 balloon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57200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🧸 bear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57200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🧱 blocks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57200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📖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4068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🧸 teddy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44068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🪀 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44068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🔟 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44068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🪑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5440680"/>
            <a:ext cx="21031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0" i="0">
                <a:solidFill>
                  <a:srgbClr val="333333"/>
                </a:solidFill>
                <a:latin typeface="Comic Sans MS"/>
              </a:rPr>
              <a:t>🚚 truck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🪰  Swat it!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389120" cy="3291840"/>
          </a:xfrm>
          <a:prstGeom prst="roundRect">
            <a:avLst>
              <a:gd name="adj" fmla="val 25000"/>
            </a:avLst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0" b="1" i="0">
                <a:solidFill>
                  <a:srgbClr val="FFFFFF"/>
                </a:solidFill>
                <a:latin typeface="Comic Sans MS"/>
              </a:rPr>
              <a:t>B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389120" cy="329184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0" b="1" i="0">
                <a:solidFill>
                  <a:srgbClr val="FFFFFF"/>
                </a:solidFill>
                <a:latin typeface="Comic Sans MS"/>
              </a:rPr>
              <a:t>T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2377440"/>
            <a:ext cx="1463040" cy="18288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9000" b="1" i="0">
                <a:solidFill>
                  <a:srgbClr val="333333"/>
                </a:solidFill>
                <a:latin typeface="Comic Sans MS"/>
              </a:rPr>
              <a:t>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2800" b="0" i="0">
                <a:solidFill>
                  <a:srgbClr val="777777"/>
                </a:solidFill>
                <a:latin typeface="Comic Sans MS"/>
              </a:rPr>
              <a:t>Listen  →  Turn  →  Swat!  →  Say the sound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21</a:t>
            </a:r>
          </a:p>
        </p:txBody>
      </p:sp>
      <p:pic>
        <p:nvPicPr>
          <p:cNvPr id="3" name="Picture 2" descr="p2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336" y="274320"/>
            <a:ext cx="4082527" cy="6309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2011680"/>
            <a:ext cx="4754880" cy="2194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6000" b="1" i="0">
                <a:solidFill>
                  <a:srgbClr val="1F3C88"/>
                </a:solidFill>
                <a:latin typeface="Comic Sans MS"/>
              </a:rPr>
              <a:t>Toys</a:t>
            </a:r>
          </a:p>
          <a:p>
            <a:pPr algn="ctr"/>
            <a:r>
              <a:rPr sz="6000" b="1" i="0">
                <a:solidFill>
                  <a:srgbClr val="1F3C88"/>
                </a:solidFill>
                <a:latin typeface="Comic Sans MS"/>
              </a:rPr>
              <a:t>RAZ · Level aa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4572000"/>
            <a:ext cx="4754880" cy="82296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Comic Sans MS"/>
              </a:rPr>
              <a:t>👉  We read this way  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22</a:t>
            </a:r>
          </a:p>
        </p:txBody>
      </p:sp>
      <p:pic>
        <p:nvPicPr>
          <p:cNvPr id="3" name="Picture 2" descr="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47" y="365760"/>
            <a:ext cx="4511504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23</a:t>
            </a:r>
          </a:p>
        </p:txBody>
      </p:sp>
      <p:pic>
        <p:nvPicPr>
          <p:cNvPr id="3" name="Picture 2" descr="b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95" y="365760"/>
            <a:ext cx="5574409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bear.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4389120" cy="82296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FFFFFF"/>
                </a:solidFill>
                <a:latin typeface="Comic Sans MS"/>
              </a:rPr>
              <a:t>⭐  You read!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24</a:t>
            </a:r>
          </a:p>
        </p:txBody>
      </p:sp>
      <p:pic>
        <p:nvPicPr>
          <p:cNvPr id="3" name="Picture 2" descr="p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548" y="365760"/>
            <a:ext cx="3257302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paint.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25</a:t>
            </a:r>
          </a:p>
        </p:txBody>
      </p:sp>
      <p:pic>
        <p:nvPicPr>
          <p:cNvPr id="3" name="Picture 2" descr="d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05" y="365760"/>
            <a:ext cx="6199789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26</a:t>
            </a:r>
          </a:p>
        </p:txBody>
      </p:sp>
      <p:pic>
        <p:nvPicPr>
          <p:cNvPr id="3" name="Picture 2" descr="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51105"/>
            <a:ext cx="6858000" cy="44643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plane.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27</a:t>
            </a:r>
          </a:p>
        </p:txBody>
      </p:sp>
      <p:pic>
        <p:nvPicPr>
          <p:cNvPr id="3" name="Picture 2" descr="wag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68" y="365760"/>
            <a:ext cx="4588463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wagon.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28</a:t>
            </a:r>
          </a:p>
        </p:txBody>
      </p:sp>
      <p:pic>
        <p:nvPicPr>
          <p:cNvPr id="3" name="Picture 2" descr="k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029" y="365760"/>
            <a:ext cx="5152341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kite.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4389120" cy="82296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FFFFFF"/>
                </a:solidFill>
                <a:latin typeface="Comic Sans MS"/>
              </a:rPr>
              <a:t>⭐  You read!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29</a:t>
            </a:r>
          </a:p>
        </p:txBody>
      </p:sp>
      <p:pic>
        <p:nvPicPr>
          <p:cNvPr id="3" name="Picture 2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24" y="365760"/>
            <a:ext cx="3762350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2377440"/>
            <a:ext cx="4389120" cy="164592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6000" b="1" i="0">
                <a:solidFill>
                  <a:srgbClr val="777777"/>
                </a:solidFill>
                <a:latin typeface="Comic Sans MS"/>
              </a:rPr>
              <a:t>The </a:t>
            </a:r>
            <a:r>
              <a:rPr sz="6000" b="1" i="0">
                <a:solidFill>
                  <a:srgbClr val="1F3C88"/>
                </a:solidFill>
                <a:latin typeface="Comic Sans MS"/>
              </a:rPr>
              <a:t>robot.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035040"/>
            <a:ext cx="438912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  <a:latin typeface="Comic Sans M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4389120" cy="82296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FFFFFF"/>
                </a:solidFill>
                <a:latin typeface="Comic Sans MS"/>
              </a:rPr>
              <a:t>⭐  You read!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⭐  Find  the  🔍  and  /b/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1645920"/>
          </a:xfrm>
          <a:prstGeom prst="roundRect">
            <a:avLst>
              <a:gd name="adj" fmla="val 2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9000" b="1" i="0">
                <a:solidFill>
                  <a:srgbClr val="FFFFFF"/>
                </a:solidFill>
                <a:latin typeface="Comic Sans MS"/>
              </a:rPr>
              <a:t>the</a:t>
            </a:r>
          </a:p>
        </p:txBody>
      </p:sp>
      <p:pic>
        <p:nvPicPr>
          <p:cNvPr id="5" name="Picture 4" descr="b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6" y="1280160"/>
            <a:ext cx="3040587" cy="3291840"/>
          </a:xfrm>
          <a:prstGeom prst="rect">
            <a:avLst/>
          </a:prstGeom>
        </p:spPr>
      </p:pic>
      <p:pic>
        <p:nvPicPr>
          <p:cNvPr id="6" name="Picture 5" descr="bl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989" y="1280160"/>
            <a:ext cx="24608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4754880"/>
            <a:ext cx="329184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000" b="1" i="0">
                <a:solidFill>
                  <a:srgbClr val="2D9CDB"/>
                </a:solidFill>
                <a:latin typeface="Comic Sans MS"/>
              </a:rPr>
              <a:t>b</a:t>
            </a:r>
            <a:r>
              <a:rPr sz="4000" b="1" i="0">
                <a:solidFill>
                  <a:srgbClr val="333333"/>
                </a:solidFill>
                <a:latin typeface="Comic Sans MS"/>
              </a:rPr>
              <a:t>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54880"/>
            <a:ext cx="3291840" cy="82296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ctr"/>
            <a:r>
              <a:rPr sz="4000" b="1" i="0">
                <a:solidFill>
                  <a:srgbClr val="2D9CDB"/>
                </a:solidFill>
                <a:latin typeface="Comic Sans MS"/>
              </a:rPr>
              <a:t>b</a:t>
            </a:r>
            <a:r>
              <a:rPr sz="4000" b="1" i="0">
                <a:solidFill>
                  <a:srgbClr val="333333"/>
                </a:solidFill>
                <a:latin typeface="Comic Sans MS"/>
              </a:rPr>
              <a:t>locks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🎤  Toy Show!</a:t>
            </a:r>
          </a:p>
        </p:txBody>
      </p:sp>
      <p:pic>
        <p:nvPicPr>
          <p:cNvPr id="4" name="Picture 3" descr="trop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29184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06240" y="1463040"/>
            <a:ext cx="7498079" cy="14630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333333"/>
                </a:solidFill>
                <a:latin typeface="Comic Sans MS"/>
              </a:rPr>
              <a:t>1  It's a ____ 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200400"/>
            <a:ext cx="7498079" cy="14630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333333"/>
                </a:solidFill>
                <a:latin typeface="Comic Sans MS"/>
              </a:rPr>
              <a:t>2  The ____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937760"/>
            <a:ext cx="7498079" cy="914400"/>
          </a:xfrm>
          <a:prstGeom prst="roundRect">
            <a:avLst>
              <a:gd name="adj" fmla="val 25000"/>
            </a:avLst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200" b="1" i="0">
                <a:solidFill>
                  <a:srgbClr val="FFFFFF"/>
                </a:solidFill>
                <a:latin typeface="Comic Sans MS"/>
              </a:rPr>
              <a:t>👏  Yes!  It's a ____ !</a:t>
            </a:r>
          </a:p>
        </p:txBody>
      </p:sp>
      <p:pic>
        <p:nvPicPr>
          <p:cNvPr id="8" name="Carefree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4320" y="6035040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126479"/>
            <a:ext cx="3200400" cy="4572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  <a:latin typeface="微软雅黑"/>
              </a:rPr>
              <a:t>背景音乐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32</a:t>
            </a:r>
          </a:p>
        </p:txBody>
      </p:sp>
      <p:pic>
        <p:nvPicPr>
          <p:cNvPr id="3" name="Picture 2" descr="bob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0" cy="4572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2011680"/>
            <a:ext cx="6035040" cy="2560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81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5400" b="1" i="0">
                <a:solidFill>
                  <a:srgbClr val="333333"/>
                </a:solidFill>
                <a:latin typeface="Comic Sans MS"/>
              </a:rPr>
              <a:t>Goodbye, Momo!</a:t>
            </a:r>
          </a:p>
          <a:p>
            <a:pPr algn="ctr"/>
            <a:r>
              <a:rPr sz="5400" b="1" i="0">
                <a:solidFill>
                  <a:srgbClr val="333333"/>
                </a:solidFill>
                <a:latin typeface="Comic Sans MS"/>
              </a:rPr>
              <a:t>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1247120" cy="91440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4400" b="1" i="0">
                <a:solidFill>
                  <a:srgbClr val="FFFFFF"/>
                </a:solidFill>
                <a:latin typeface="Comic Sans MS"/>
              </a:rPr>
              <a:t>🏠  今天我们学了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🧸 单词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ball, balloon, teddy bear, kite, robot, 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💬 句子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60604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What is it? — It's a ___.   Is it a…? — Yes, it is. / No, it isn't.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🔤 字母的声音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84048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B 说 /b/　T 说 /t/　（字母有名字，也有声音）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2743200" cy="1005840"/>
          </a:xfrm>
          <a:prstGeom prst="roundRect">
            <a:avLst>
              <a:gd name="adj" fmla="val 25000"/>
            </a:avLst>
          </a:prstGeom>
          <a:solidFill>
            <a:srgbClr val="8E6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📖 绘本 / 回家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074920"/>
            <a:ext cx="822960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2400" b="0" i="0">
                <a:solidFill>
                  <a:srgbClr val="333333"/>
                </a:solidFill>
                <a:latin typeface="微软雅黑"/>
              </a:rPr>
              <a:t>《Toys》：每天读一遍，录 30 秒发群；问孩子 “B says…?”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r"/>
            <a:r>
              <a:rPr sz="1200" b="1" i="0">
                <a:solidFill>
                  <a:srgbClr val="777777"/>
                </a:solidFill>
                <a:latin typeface="Comic Sans MS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 anchor="ctr" lIns="109728" rIns="109728">
            <a:spAutoFit/>
          </a:bodyPr>
          <a:lstStyle/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素材来源 Credits</a:t>
            </a:r>
          </a:p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绘本页面：Reading A-Z《Toys》Level aa（Learning A-Z，课堂内部使用）</a:t>
            </a:r>
          </a:p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音乐：Kevin MacLeod（incompetech.com），CC BY 4.0 —— Monkeys Spinning Monkeys / Sneaky Snitch / Fluffing a Duck / Carefree</a:t>
            </a:r>
          </a:p>
          <a:p>
            <a:pPr algn="l"/>
            <a:r>
              <a:rPr sz="2000" b="0" i="0">
                <a:solidFill>
                  <a:srgbClr val="777777"/>
                </a:solidFill>
                <a:latin typeface="微软雅黑"/>
              </a:rPr>
              <a:t>插画：AI 生成，供本课堂使用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