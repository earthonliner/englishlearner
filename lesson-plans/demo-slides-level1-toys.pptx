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media/media3.mp3" ContentType="audio/mpeg"/>
  <Override PartName="/ppt/media/media4.mp3" ContentType="audio/m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 Hello Song（音乐 1：Fluffing a Duck 可作进场背景）。击掌 Hello!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Momo：Hello! I'm Momo. What's your name? → How old are you?（伸 6 根手指示范）孩子：I'm ___. I'm six. 答不出的，Momo 举手指提示。每人 1 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Stand up / Sit down / Hands up 3 轮加速；Hands up = I want to talk（中文说一次，全课唯一中文规则）。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指着盖布的桌子：This is Momo's Toy Shop. What's in the shop? 慢慢掀布一角，先让孩子中文猜。音乐 2：Sneaky Snitch 低声背景。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四步：① 举起玩具 "A ball!" ×3 ② Say it with me ×3（拍手）③ 悄悄话 / 大声 / 机器人声 ④ 递给孩子 What is it? 答后传下去。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四步：① 举起玩具 "A top!" ×3 ② Say it with me ×3（拍手）③ 悄悄话 / 大声 / 机器人声 ④ 递给孩子 What is it? 答后传下去。 陀螺转一下（/t/ 伏笔）。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四步：① 举起玩具 "A drum!" ×3 ② Say it with me ×3（拍手）③ 悄悄话 / 大声 / 机器人声 ④ 递给孩子 What is it? 答后传下去。 敲一下。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四步：① 举起玩具 "A kite!" ×3 ② Say it with me ×3（拍手）③ 悄悄话 / 大声 / 机器人声 ④ 递给孩子 What is it? 答后传下去。 举高做放风筝。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四步：① 举起玩具 "A robot!" ×3 ② Say it with me ×3（拍手）③ 悄悄话 / 大声 / 机器人声 ④ 递给孩子 What is it? 答后传下去。 机器人走路。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四步：① 举起玩具 "A puppet!" ×3 ② Say it with me ×3（拍手）③ 悄悄话 / 大声 / 机器人声 ④ 递给孩子 What is it? 答后传下去。 举起 Momo：Momo is a puppet!（/p/ 伏笔）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your eyes! 藏 1 个 → Open! What's missing? 3 轮，第 3 轮藏 2 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your eyes! 藏 1 个 → Open! What's missing? 3 轮，第 3 轮藏 2 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your eyes! 藏 1 个 → Open! What's missing? 3 轮，第 3 轮藏 2 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老师当顾客、Momo 当店员示范 4 轮：Do you want a ball? — Yes, I do!（点头接过、付钱）Do you want a drum? — No, I don't. I want a top.（摇头、指陀螺）然后带全班跟说三句各 3 遍，配手势。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Momo 举玩具问全班 Do you want a robot? 全班按真实想法答，老师数人数，6 轮。② 孩子排队当顾客，每人买一次；若 No 必须说 I want a ___.；付钱拿玩具。挑战档：能力强的孩子拿 Momo 当店员问下一位。结束：Here you are. — Thank you! 音乐 3 可作商店背景。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揭开 Tt：Name?（tee）Sound: /t/ /t/ /t/.（手指唇前感受气流）top—/t/, teddy—/t/, ten—/t/! 跟说 5 遍。/t/ 短促无元音，不要 tuh。对家长 10 秒：孩子会字母名，我们教字母的声音——读出单词的钥匙。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揭开 Pp：Name: P. Sound: /p/ /p/ /p/.（纸片实验：/p/ 吹得动）puppet—/p/, pop—/p/, pot—/p/! 跟说 5 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揭开 Oo：Name: O. Sound: /o/ /o/ /o/.（嘴张圆，手比圆圈）Like the doctor: ah—no, /o/! 带做 5 遍。举图 octopus、on（手放桌上）、hot（烫手势）。口型要夸张。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先不出现字母，只做"耳朵合成"：指三格，每说一个音拍一格 /t/ … /o/ … /p/ … top!（手从左滑到右）Again: /t/ /o/ /p/ — ? 孩子答 top。3 遍变快。再 /p/ /o/ /p/ → pop（戳气球手势）；/p/ /o/ /t/ → pot（举玩具锅）。每词 3 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磁性字母 t o p 放进白板三格：This is /t/. This is /o/. This is /p/. 手指逐格点：/t/ /o/ /p/ … top! 全班读 3 遍。请 2–3 个孩子上来把老师说的音的字母放进格子。手指必须从左到右滑。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换 p o p：/p/ /o/ /p/ … pop! 读 3 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 o t → pot（举玩具锅）。挑战档可加 h 卡拼 hop。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举 top 盒子：Can you read this? /t/ /o/ /p/—? 全班 top! 打开盒子——满满的陀螺。Now, one by one. Read it, and the top is yours! 每人到白板前手指滑过 t-o-p 读出 top，拿一个陀螺。读不出的老师放慢 /t/… /o/… /p/… 他说出 top 即可，没有人空手。全部完成后：Read this!（pop）→ 齐读 pop → Cover your ears! 戳破一个气球 POP! 再请 2 个孩子各读 1 次 pop 各戳 1 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What's this book about? Toys! 示范左→右翻页与指读方向（和拼读滑动方向一致）。对家长 10 秒：美国小学分级读物 aa 级。老师指读每页 2 遍，第 2 遍 The… 停住让孩子接 drum / kite / robot；blocks, bear, paint, plane, wagon 老师读 + 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《Toys》第 3 页：The blocks. 老师读 + 动作演示，孩子听懂并指图。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《Toys》第 4 页：The bear. 老师读 + 动作演示，孩子听懂并指图。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《Toys》第 5 页：The paint. 老师读 + 动作演示，孩子听懂并指图。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《Toys》第 6 页：The drum. ★ 孩子接词 / 独立读的页。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《Toys》第 7 页：The plane. 老师读 + 动作演示，孩子听懂并指图。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《Toys》第 8 页：The wagon. 老师读 + 动作演示，孩子听懂并指图。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《Toys》第 9 页：The kite. ★ 孩子接词 / 独立读的页。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《Toys》第 10 页：The robot. ★ 孩子接词 / 独立读的页。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举 the 词卡：This little word is the. 每页找 the。Find /p/ words!（paint, plane——读这两页时重读 /p/）Is there a top in the book? No! So we make our own page!（引出书写）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发四线三格卡：Now you write! The top. 先描淡字，再在下一行抄一遍；巡视握笔。Big T! And a dot at the end.（句首大写、句末句号）写完让孩子手指读自己写的句子。把卡夹进《Toys》最后一页当第 9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time! 每人 30 秒：① 翻到 drum / kite / robot 任一页读 The ___. ② 举自己的卡读 The top. ③ 举陀螺。全班齐喊 You can read! 贴纸。挑战档追问 Do you want a top? 或拼读 pot。家长拍摄。音乐 4：Carefree 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Momo 击掌 Goodbye, ___! 孩子：Goodbye, Momo! 对家长三句话（见教案 ⑦），发家长手册。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课后给家长看的一页，老师口头说明三句话即可。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素材来源，放映时可跳过。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microsoft.com/office/2007/relationships/media" Target="../media/media1.mp3"/><Relationship Id="rId6" Type="http://schemas.openxmlformats.org/officeDocument/2006/relationships/video" Target="../media/media1.mp3"/><Relationship Id="rId7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microsoft.com/office/2007/relationships/media" Target="../media/media2.mp3"/><Relationship Id="rId5" Type="http://schemas.openxmlformats.org/officeDocument/2006/relationships/video" Target="../media/media2.mp3"/><Relationship Id="rId6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microsoft.com/office/2007/relationships/media" Target="../media/media3.mp3"/><Relationship Id="rId5" Type="http://schemas.openxmlformats.org/officeDocument/2006/relationships/video" Target="../media/media3.mp3"/><Relationship Id="rId6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Relationship Id="rId4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jpg"/><Relationship Id="rId4" Type="http://schemas.openxmlformats.org/officeDocument/2006/relationships/image" Target="../media/image1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jpg"/><Relationship Id="rId4" Type="http://schemas.microsoft.com/office/2007/relationships/media" Target="../media/media4.mp3"/><Relationship Id="rId5" Type="http://schemas.openxmlformats.org/officeDocument/2006/relationships/video" Target="../media/media4.mp3"/><Relationship Id="rId6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C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37160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8000" b="1" i="0">
                <a:solidFill>
                  <a:srgbClr val="1F3C88"/>
                </a:solidFill>
                <a:latin typeface="Comic Sans MS"/>
              </a:rPr>
              <a:t>Toy Shop!</a:t>
            </a:r>
          </a:p>
        </p:txBody>
      </p:sp>
      <p:pic>
        <p:nvPicPr>
          <p:cNvPr id="4" name="Picture 3" descr="toysh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57400"/>
            <a:ext cx="7315200" cy="4114800"/>
          </a:xfrm>
          <a:prstGeom prst="rect">
            <a:avLst/>
          </a:prstGeom>
        </p:spPr>
      </p:pic>
      <p:pic>
        <p:nvPicPr>
          <p:cNvPr id="5" name="Picture 4" descr="bob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2331720"/>
            <a:ext cx="3840480" cy="3840480"/>
          </a:xfrm>
          <a:prstGeom prst="rect">
            <a:avLst/>
          </a:prstGeom>
        </p:spPr>
      </p:pic>
      <p:pic>
        <p:nvPicPr>
          <p:cNvPr id="6" name="Fluffing_a_Duck.mp3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74320" y="6035040"/>
            <a:ext cx="640080" cy="640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0120" y="6126479"/>
            <a:ext cx="3200400" cy="45720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微软雅黑"/>
              </a:rPr>
              <a:t>进场音乐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2</a:t>
            </a:r>
          </a:p>
        </p:txBody>
      </p:sp>
      <p:pic>
        <p:nvPicPr>
          <p:cNvPr id="3" name="Picture 2" descr="bob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4206240" cy="42062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0" y="914400"/>
            <a:ext cx="6675120" cy="2377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8100"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3800" b="1" i="0">
                <a:solidFill>
                  <a:srgbClr val="333333"/>
                </a:solidFill>
                <a:latin typeface="Comic Sans MS"/>
              </a:rPr>
              <a:t>What's your name?</a:t>
            </a:r>
          </a:p>
          <a:p>
            <a:pPr algn="ctr"/>
            <a:r>
              <a:rPr sz="3800" b="1" i="0">
                <a:solidFill>
                  <a:srgbClr val="333333"/>
                </a:solidFill>
                <a:latin typeface="Comic Sans MS"/>
              </a:rPr>
              <a:t>How old are you?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3840480"/>
            <a:ext cx="6675120" cy="1463040"/>
          </a:xfrm>
          <a:prstGeom prst="roundRect">
            <a:avLst>
              <a:gd name="adj" fmla="val 25000"/>
            </a:avLst>
          </a:prstGeom>
          <a:solidFill>
            <a:srgbClr val="FFF4C2"/>
          </a:solidFill>
          <a:ln w="38100"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3800" b="1" i="0">
                <a:solidFill>
                  <a:srgbClr val="333333"/>
                </a:solidFill>
                <a:latin typeface="Comic Sans MS"/>
              </a:rPr>
              <a:t>I'm ____ .  I'm six!  🖐️☝️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1247120" cy="914400"/>
          </a:xfrm>
          <a:prstGeom prst="roundRect">
            <a:avLst>
              <a:gd name="adj" fmla="val 25000"/>
            </a:avLst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400" b="1" i="0">
                <a:solidFill>
                  <a:srgbClr val="FFFFFF"/>
                </a:solidFill>
                <a:latin typeface="Comic Sans MS"/>
              </a:rPr>
              <a:t>🙋  Momo says…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3474720" cy="25603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13000" b="1" i="0">
                <a:solidFill>
                  <a:srgbClr val="333333"/>
                </a:solidFill>
                <a:latin typeface="Comic Sans MS"/>
              </a:rPr>
              <a:t>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206240"/>
            <a:ext cx="3474720" cy="1005840"/>
          </a:xfrm>
          <a:prstGeom prst="roundRect">
            <a:avLst>
              <a:gd name="adj" fmla="val 25000"/>
            </a:avLst>
          </a:prstGeom>
          <a:solidFill>
            <a:srgbClr val="2D9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FFFFFF"/>
                </a:solidFill>
                <a:latin typeface="Comic Sans MS"/>
              </a:rPr>
              <a:t>Stand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463040"/>
            <a:ext cx="3474720" cy="25603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13000" b="1" i="0">
                <a:solidFill>
                  <a:srgbClr val="333333"/>
                </a:solidFill>
                <a:latin typeface="Comic Sans MS"/>
              </a:rPr>
              <a:t>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4206240"/>
            <a:ext cx="3474720" cy="1005840"/>
          </a:xfrm>
          <a:prstGeom prst="roundRect">
            <a:avLst>
              <a:gd name="adj" fmla="val 25000"/>
            </a:avLst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FFFFFF"/>
                </a:solidFill>
                <a:latin typeface="Comic Sans MS"/>
              </a:rPr>
              <a:t>Sit 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463040"/>
            <a:ext cx="3474720" cy="25603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13000" b="1" i="0">
                <a:solidFill>
                  <a:srgbClr val="333333"/>
                </a:solidFill>
                <a:latin typeface="Comic Sans MS"/>
              </a:rPr>
              <a:t>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4206240"/>
            <a:ext cx="3474720" cy="1005840"/>
          </a:xfrm>
          <a:prstGeom prst="roundRect">
            <a:avLst>
              <a:gd name="adj" fmla="val 25000"/>
            </a:avLst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FFFFFF"/>
                </a:solidFill>
                <a:latin typeface="Comic Sans MS"/>
              </a:rPr>
              <a:t>Hands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577840"/>
            <a:ext cx="9418320" cy="7315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2600" b="0" i="0">
                <a:solidFill>
                  <a:srgbClr val="777777"/>
                </a:solidFill>
                <a:latin typeface="Comic Sans MS"/>
              </a:rPr>
              <a:t>Hands up = I want to talk  🗣️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1247120" cy="914400"/>
          </a:xfrm>
          <a:prstGeom prst="roundRect">
            <a:avLst>
              <a:gd name="adj" fmla="val 25000"/>
            </a:avLst>
          </a:prstGeom>
          <a:solidFill>
            <a:srgbClr val="8E6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400" b="1" i="0">
                <a:solidFill>
                  <a:srgbClr val="FFFFFF"/>
                </a:solidFill>
                <a:latin typeface="Comic Sans MS"/>
              </a:rPr>
              <a:t>🏪  Momo's Toy Shop</a:t>
            </a:r>
          </a:p>
        </p:txBody>
      </p:sp>
      <p:pic>
        <p:nvPicPr>
          <p:cNvPr id="4" name="Picture 3" descr="toysh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360" y="1280160"/>
            <a:ext cx="9103360" cy="5120640"/>
          </a:xfrm>
          <a:prstGeom prst="rect">
            <a:avLst/>
          </a:prstGeom>
        </p:spPr>
      </p:pic>
      <p:pic>
        <p:nvPicPr>
          <p:cNvPr id="5" name="Sneaky_Snitch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74320" y="603504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" y="6126479"/>
            <a:ext cx="3200400" cy="45720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微软雅黑"/>
              </a:rPr>
              <a:t>开店音乐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5</a:t>
            </a:r>
          </a:p>
        </p:txBody>
      </p:sp>
      <p:pic>
        <p:nvPicPr>
          <p:cNvPr id="3" name="Picture 2" descr="ba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457200"/>
            <a:ext cx="484632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40680"/>
            <a:ext cx="11247120" cy="109728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7200" b="1" i="0">
                <a:solidFill>
                  <a:srgbClr val="1F3C88"/>
                </a:solidFill>
                <a:latin typeface="Comic Sans MS"/>
              </a:rPr>
              <a:t>ball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6</a:t>
            </a:r>
          </a:p>
        </p:txBody>
      </p:sp>
      <p:pic>
        <p:nvPicPr>
          <p:cNvPr id="3" name="Picture 2" descr="t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457200"/>
            <a:ext cx="484632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40680"/>
            <a:ext cx="11247120" cy="109728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7200" b="1" i="0">
                <a:solidFill>
                  <a:srgbClr val="1F3C88"/>
                </a:solidFill>
                <a:latin typeface="Comic Sans MS"/>
              </a:rPr>
              <a:t>top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7</a:t>
            </a:r>
          </a:p>
        </p:txBody>
      </p:sp>
      <p:pic>
        <p:nvPicPr>
          <p:cNvPr id="3" name="Picture 2" descr="dr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1450" y="457200"/>
            <a:ext cx="4978618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40680"/>
            <a:ext cx="11247120" cy="109728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7200" b="1" i="0">
                <a:solidFill>
                  <a:srgbClr val="1F3C88"/>
                </a:solidFill>
                <a:latin typeface="Comic Sans MS"/>
              </a:rPr>
              <a:t>drum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8</a:t>
            </a:r>
          </a:p>
        </p:txBody>
      </p:sp>
      <p:pic>
        <p:nvPicPr>
          <p:cNvPr id="3" name="Picture 2" descr="k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2016" y="457200"/>
            <a:ext cx="4137486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40680"/>
            <a:ext cx="11247120" cy="109728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7200" b="1" i="0">
                <a:solidFill>
                  <a:srgbClr val="1F3C88"/>
                </a:solidFill>
                <a:latin typeface="Comic Sans MS"/>
              </a:rPr>
              <a:t>kite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C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9</a:t>
            </a:r>
          </a:p>
        </p:txBody>
      </p:sp>
      <p:pic>
        <p:nvPicPr>
          <p:cNvPr id="3" name="Picture 2" descr="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119" y="457200"/>
            <a:ext cx="3021281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40680"/>
            <a:ext cx="11247120" cy="109728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7200" b="1" i="0">
                <a:solidFill>
                  <a:srgbClr val="1F3C88"/>
                </a:solidFill>
                <a:latin typeface="Comic Sans MS"/>
              </a:rPr>
              <a:t>robot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10</a:t>
            </a:r>
          </a:p>
        </p:txBody>
      </p:sp>
      <p:pic>
        <p:nvPicPr>
          <p:cNvPr id="3" name="Picture 2" descr="bob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457200"/>
            <a:ext cx="484632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40680"/>
            <a:ext cx="11247120" cy="109728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7200" b="1" i="0">
                <a:solidFill>
                  <a:srgbClr val="1F3C88"/>
                </a:solidFill>
                <a:latin typeface="Comic Sans MS"/>
              </a:rPr>
              <a:t>puppet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11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1247120" cy="914400"/>
          </a:xfrm>
          <a:prstGeom prst="roundRect">
            <a:avLst>
              <a:gd name="adj" fmla="val 25000"/>
            </a:avLst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400" b="1" i="0">
                <a:solidFill>
                  <a:srgbClr val="FFFFFF"/>
                </a:solidFill>
                <a:latin typeface="Comic Sans MS"/>
              </a:rPr>
              <a:t>👀  What's missing?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657600" cy="2377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/>
            </a:r>
          </a:p>
        </p:txBody>
      </p:sp>
      <p:pic>
        <p:nvPicPr>
          <p:cNvPr id="5" name="Picture 4" descr="ba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463040"/>
            <a:ext cx="1737360" cy="1737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200399"/>
            <a:ext cx="3657600" cy="5029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2200" b="0" i="0">
                <a:solidFill>
                  <a:srgbClr val="777777"/>
                </a:solidFill>
                <a:latin typeface="Comic Sans MS"/>
              </a:rPr>
              <a:t>ball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371600"/>
            <a:ext cx="3657600" cy="2377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/>
            </a:r>
          </a:p>
        </p:txBody>
      </p:sp>
      <p:pic>
        <p:nvPicPr>
          <p:cNvPr id="8" name="Picture 7" descr="to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799" y="1463040"/>
            <a:ext cx="1737360" cy="1737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97679" y="3200399"/>
            <a:ext cx="3657600" cy="5029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2200" b="0" i="0">
                <a:solidFill>
                  <a:srgbClr val="777777"/>
                </a:solidFill>
                <a:latin typeface="Comic Sans MS"/>
              </a:rPr>
              <a:t>top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371600"/>
            <a:ext cx="3657600" cy="2377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/>
            </a:r>
          </a:p>
        </p:txBody>
      </p:sp>
      <p:pic>
        <p:nvPicPr>
          <p:cNvPr id="11" name="Picture 10" descr="dru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3126" y="1463040"/>
            <a:ext cx="1784787" cy="1737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46719" y="3200399"/>
            <a:ext cx="3657600" cy="5029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2200" b="0" i="0">
                <a:solidFill>
                  <a:srgbClr val="777777"/>
                </a:solidFill>
                <a:latin typeface="Comic Sans MS"/>
              </a:rPr>
              <a:t>drum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3657600" cy="2377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/>
            </a:r>
          </a:p>
        </p:txBody>
      </p:sp>
      <p:pic>
        <p:nvPicPr>
          <p:cNvPr id="14" name="Picture 13" descr="k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5815" y="4114800"/>
            <a:ext cx="1483249" cy="1737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5852160"/>
            <a:ext cx="3657600" cy="5029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2200" b="0" i="0">
                <a:solidFill>
                  <a:srgbClr val="777777"/>
                </a:solidFill>
                <a:latin typeface="Comic Sans MS"/>
              </a:rPr>
              <a:t>kite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9" y="4023360"/>
            <a:ext cx="3657600" cy="2377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/>
            </a:r>
          </a:p>
        </p:txBody>
      </p:sp>
      <p:pic>
        <p:nvPicPr>
          <p:cNvPr id="17" name="Picture 16" descr="rob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4929" y="4114800"/>
            <a:ext cx="1083101" cy="17373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297679" y="5852160"/>
            <a:ext cx="3657600" cy="5029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2200" b="0" i="0">
                <a:solidFill>
                  <a:srgbClr val="777777"/>
                </a:solidFill>
                <a:latin typeface="Comic Sans MS"/>
              </a:rPr>
              <a:t>robot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4023360"/>
            <a:ext cx="3657600" cy="2377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/>
            </a:r>
          </a:p>
        </p:txBody>
      </p:sp>
      <p:pic>
        <p:nvPicPr>
          <p:cNvPr id="20" name="Picture 19" descr="bobo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6839" y="4114800"/>
            <a:ext cx="1737360" cy="17373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046719" y="5852160"/>
            <a:ext cx="3657600" cy="5029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2200" b="0" i="0">
                <a:solidFill>
                  <a:srgbClr val="777777"/>
                </a:solidFill>
                <a:latin typeface="Comic Sans MS"/>
              </a:rPr>
              <a:t>puppet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1247120" cy="914400"/>
          </a:xfrm>
          <a:prstGeom prst="roundRect">
            <a:avLst>
              <a:gd name="adj" fmla="val 25000"/>
            </a:avLst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400" b="1" i="0">
                <a:solidFill>
                  <a:srgbClr val="FFFFFF"/>
                </a:solidFill>
                <a:latin typeface="Comic Sans MS"/>
              </a:rPr>
              <a:t>👀  What's missing?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657600" cy="2377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/>
            </a:r>
          </a:p>
        </p:txBody>
      </p:sp>
      <p:pic>
        <p:nvPicPr>
          <p:cNvPr id="5" name="Picture 4" descr="ba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463040"/>
            <a:ext cx="1737360" cy="1737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297679" y="1371600"/>
            <a:ext cx="3657600" cy="2377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/>
            </a:r>
          </a:p>
        </p:txBody>
      </p:sp>
      <p:pic>
        <p:nvPicPr>
          <p:cNvPr id="7" name="Picture 6" descr="to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799" y="1463040"/>
            <a:ext cx="1737360" cy="1737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46719" y="1371600"/>
            <a:ext cx="3657600" cy="2377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9" y="1371600"/>
            <a:ext cx="3657600" cy="23774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12000" b="1" i="0">
                <a:solidFill>
                  <a:srgbClr val="FF6B6B"/>
                </a:solidFill>
                <a:latin typeface="Comic Sans MS"/>
              </a:rPr>
              <a:t>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23360"/>
            <a:ext cx="3657600" cy="2377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/>
            </a:r>
          </a:p>
        </p:txBody>
      </p:sp>
      <p:pic>
        <p:nvPicPr>
          <p:cNvPr id="11" name="Picture 10" descr="k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5815" y="4114800"/>
            <a:ext cx="1483249" cy="17373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297679" y="4023360"/>
            <a:ext cx="3657600" cy="2377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/>
            </a:r>
          </a:p>
        </p:txBody>
      </p:sp>
      <p:pic>
        <p:nvPicPr>
          <p:cNvPr id="13" name="Picture 12" descr="rob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4929" y="4114800"/>
            <a:ext cx="1083101" cy="173736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046719" y="4023360"/>
            <a:ext cx="3657600" cy="2377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/>
            </a:r>
          </a:p>
        </p:txBody>
      </p:sp>
      <p:pic>
        <p:nvPicPr>
          <p:cNvPr id="15" name="Picture 14" descr="bobo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6839" y="411480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1247120" cy="914400"/>
          </a:xfrm>
          <a:prstGeom prst="roundRect">
            <a:avLst>
              <a:gd name="adj" fmla="val 25000"/>
            </a:avLst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400" b="1" i="0">
                <a:solidFill>
                  <a:srgbClr val="FFFFFF"/>
                </a:solidFill>
                <a:latin typeface="Comic Sans MS"/>
              </a:rPr>
              <a:t>👀  What's missing?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657600" cy="2377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/>
            </a:r>
          </a:p>
        </p:txBody>
      </p:sp>
      <p:pic>
        <p:nvPicPr>
          <p:cNvPr id="5" name="Picture 4" descr="ba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463040"/>
            <a:ext cx="1737360" cy="1737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297679" y="1371600"/>
            <a:ext cx="3657600" cy="2377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/>
            </a:r>
          </a:p>
        </p:txBody>
      </p:sp>
      <p:pic>
        <p:nvPicPr>
          <p:cNvPr id="7" name="Picture 6" descr="to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799" y="1463040"/>
            <a:ext cx="1737360" cy="1737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46719" y="1371600"/>
            <a:ext cx="3657600" cy="2377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/>
            </a:r>
          </a:p>
        </p:txBody>
      </p:sp>
      <p:pic>
        <p:nvPicPr>
          <p:cNvPr id="9" name="Picture 8" descr="dru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3126" y="1463040"/>
            <a:ext cx="1784787" cy="17373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8640" y="4023360"/>
            <a:ext cx="3657600" cy="2377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/>
            </a:r>
          </a:p>
        </p:txBody>
      </p:sp>
      <p:pic>
        <p:nvPicPr>
          <p:cNvPr id="11" name="Picture 10" descr="k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5815" y="4114800"/>
            <a:ext cx="1483249" cy="17373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297679" y="4023360"/>
            <a:ext cx="3657600" cy="2377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/>
            </a:r>
          </a:p>
        </p:txBody>
      </p:sp>
      <p:pic>
        <p:nvPicPr>
          <p:cNvPr id="13" name="Picture 12" descr="rob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4929" y="4114800"/>
            <a:ext cx="1083101" cy="173736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046719" y="4023360"/>
            <a:ext cx="3657600" cy="2377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9" y="4023360"/>
            <a:ext cx="3657600" cy="23774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12000" b="1" i="0">
                <a:solidFill>
                  <a:srgbClr val="FF6B6B"/>
                </a:solidFill>
                <a:latin typeface="Comic Sans MS"/>
              </a:rPr>
              <a:t>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14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1247120" cy="914400"/>
          </a:xfrm>
          <a:prstGeom prst="roundRect">
            <a:avLst>
              <a:gd name="adj" fmla="val 25000"/>
            </a:avLst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400" b="1" i="0">
                <a:solidFill>
                  <a:srgbClr val="FFFFFF"/>
                </a:solidFill>
                <a:latin typeface="Comic Sans MS"/>
              </a:rPr>
              <a:t>🛒  Do you want a ____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303520" cy="16459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9000" b="1" i="0">
                <a:solidFill>
                  <a:srgbClr val="333333"/>
                </a:solidFill>
                <a:latin typeface="Comic Sans MS"/>
              </a:rPr>
              <a:t>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200400"/>
            <a:ext cx="5303520" cy="1280160"/>
          </a:xfrm>
          <a:prstGeom prst="roundRect">
            <a:avLst>
              <a:gd name="adj" fmla="val 25000"/>
            </a:avLst>
          </a:prstGeom>
          <a:solidFill>
            <a:srgbClr val="E6F7F1"/>
          </a:solidFill>
          <a:ln w="38100"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400" b="1" i="0">
                <a:solidFill>
                  <a:srgbClr val="333333"/>
                </a:solidFill>
                <a:latin typeface="Comic Sans MS"/>
              </a:rPr>
              <a:t>Yes, I do!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63040"/>
            <a:ext cx="5303520" cy="16459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9000" b="1" i="0">
                <a:solidFill>
                  <a:srgbClr val="333333"/>
                </a:solidFill>
                <a:latin typeface="Comic Sans MS"/>
              </a:rPr>
              <a:t>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200400"/>
            <a:ext cx="5303520" cy="2194560"/>
          </a:xfrm>
          <a:prstGeom prst="roundRect">
            <a:avLst>
              <a:gd name="adj" fmla="val 25000"/>
            </a:avLst>
          </a:prstGeom>
          <a:solidFill>
            <a:srgbClr val="FDE7EF"/>
          </a:solidFill>
          <a:ln w="38100"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3600" b="1" i="0">
                <a:solidFill>
                  <a:srgbClr val="333333"/>
                </a:solidFill>
                <a:latin typeface="Comic Sans MS"/>
              </a:rPr>
              <a:t>No, I don't.</a:t>
            </a:r>
          </a:p>
          <a:p>
            <a:pPr algn="ctr"/>
            <a:r>
              <a:rPr sz="3600" b="1" i="0">
                <a:solidFill>
                  <a:srgbClr val="333333"/>
                </a:solidFill>
                <a:latin typeface="Comic Sans MS"/>
              </a:rPr>
              <a:t>I want a ____ 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2600" b="0" i="0">
                <a:solidFill>
                  <a:srgbClr val="777777"/>
                </a:solidFill>
                <a:latin typeface="Comic Sans MS"/>
              </a:rPr>
              <a:t>👍 点头   ·   👎 摇头   ·   👉 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15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1247120" cy="914400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400" b="1" i="0">
                <a:solidFill>
                  <a:srgbClr val="FFFFFF"/>
                </a:solidFill>
                <a:latin typeface="Comic Sans MS"/>
              </a:rPr>
              <a:t>💰  Shop time!</a:t>
            </a:r>
          </a:p>
        </p:txBody>
      </p:sp>
      <p:pic>
        <p:nvPicPr>
          <p:cNvPr id="4" name="Picture 3" descr="toysh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3045"/>
            <a:ext cx="6035040" cy="339470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371600"/>
            <a:ext cx="4846320" cy="32918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8100"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800" b="1" i="0">
                <a:solidFill>
                  <a:srgbClr val="333333"/>
                </a:solidFill>
                <a:latin typeface="Comic Sans MS"/>
              </a:rPr>
              <a:t>Do you want a ___?</a:t>
            </a:r>
          </a:p>
          <a:p>
            <a:pPr algn="ctr"/>
            <a:r>
              <a:rPr sz="2800" b="1" i="0">
                <a:solidFill>
                  <a:srgbClr val="333333"/>
                </a:solidFill>
                <a:latin typeface="Comic Sans MS"/>
              </a:rPr>
              <a:t>Yes, I do!  /  No, I don't.</a:t>
            </a:r>
          </a:p>
          <a:p>
            <a:pPr algn="ctr"/>
            <a:r>
              <a:rPr sz="2800" b="1" i="0">
                <a:solidFill>
                  <a:srgbClr val="333333"/>
                </a:solidFill>
                <a:latin typeface="Comic Sans MS"/>
              </a:rPr>
              <a:t>I want a ___.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303520"/>
            <a:ext cx="11155680" cy="914400"/>
          </a:xfrm>
          <a:prstGeom prst="roundRect">
            <a:avLst>
              <a:gd name="adj" fmla="val 25000"/>
            </a:avLst>
          </a:prstGeom>
          <a:solidFill>
            <a:srgbClr val="FFF4C2"/>
          </a:solidFill>
          <a:ln w="38100"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3000" b="1" i="0">
                <a:solidFill>
                  <a:srgbClr val="333333"/>
                </a:solidFill>
                <a:latin typeface="Comic Sans MS"/>
              </a:rPr>
              <a:t>Here you are.  —  Thank you!</a:t>
            </a:r>
          </a:p>
        </p:txBody>
      </p:sp>
      <p:pic>
        <p:nvPicPr>
          <p:cNvPr id="7" name="Monkeys_Spinning_Monkeys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858000" y="4846320"/>
            <a:ext cx="64008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43800" y="4937759"/>
            <a:ext cx="3200400" cy="45720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微软雅黑"/>
              </a:rPr>
              <a:t>商店音乐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16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548640"/>
            <a:ext cx="4389120" cy="2926080"/>
          </a:xfrm>
          <a:prstGeom prst="roundRect">
            <a:avLst>
              <a:gd name="adj" fmla="val 25000"/>
            </a:avLst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0" b="1" i="0">
                <a:solidFill>
                  <a:srgbClr val="FFFFFF"/>
                </a:solidFill>
                <a:latin typeface="Comic Sans MS"/>
              </a:rPr>
              <a:t>T 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4206240" cy="109728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4400" b="1" i="0">
                <a:solidFill>
                  <a:srgbClr val="2BB673"/>
                </a:solidFill>
                <a:latin typeface="Comic Sans MS"/>
              </a:rPr>
              <a:t>/t/  /t/  /t/</a:t>
            </a:r>
          </a:p>
        </p:txBody>
      </p:sp>
      <p:pic>
        <p:nvPicPr>
          <p:cNvPr id="5" name="Picture 4" descr="t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097280"/>
            <a:ext cx="2194560" cy="2194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0" y="3657600"/>
            <a:ext cx="2194560" cy="82296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3400" b="1" i="0">
                <a:solidFill>
                  <a:srgbClr val="2BB673"/>
                </a:solidFill>
                <a:latin typeface="Comic Sans MS"/>
              </a:rPr>
              <a:t>t</a:t>
            </a:r>
            <a:r>
              <a:rPr sz="3400" b="1" i="0">
                <a:solidFill>
                  <a:srgbClr val="333333"/>
                </a:solidFill>
                <a:latin typeface="Comic Sans MS"/>
              </a:rPr>
              <a:t>op</a:t>
            </a:r>
          </a:p>
        </p:txBody>
      </p:sp>
      <p:pic>
        <p:nvPicPr>
          <p:cNvPr id="7" name="Picture 6" descr="be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1006608"/>
            <a:ext cx="2194560" cy="23759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3657600"/>
            <a:ext cx="2194560" cy="82296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3400" b="1" i="0">
                <a:solidFill>
                  <a:srgbClr val="2BB673"/>
                </a:solidFill>
                <a:latin typeface="Comic Sans MS"/>
              </a:rPr>
              <a:t>t</a:t>
            </a:r>
            <a:r>
              <a:rPr sz="3400" b="1" i="0">
                <a:solidFill>
                  <a:srgbClr val="333333"/>
                </a:solidFill>
                <a:latin typeface="Comic Sans MS"/>
              </a:rPr>
              <a:t>eddy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914400"/>
            <a:ext cx="2194560" cy="25603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11000" b="1" i="0">
                <a:solidFill>
                  <a:srgbClr val="333333"/>
                </a:solidFill>
                <a:latin typeface="Comic Sans MS"/>
              </a:rPr>
              <a:t>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3657600"/>
            <a:ext cx="2194560" cy="82296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3400" b="1" i="0">
                <a:solidFill>
                  <a:srgbClr val="2BB673"/>
                </a:solidFill>
                <a:latin typeface="Comic Sans MS"/>
              </a:rPr>
              <a:t>t</a:t>
            </a:r>
            <a:r>
              <a:rPr sz="3400" b="1" i="0">
                <a:solidFill>
                  <a:srgbClr val="333333"/>
                </a:solidFill>
                <a:latin typeface="Comic Sans MS"/>
              </a:rPr>
              <a:t>en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17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548640"/>
            <a:ext cx="4389120" cy="2926080"/>
          </a:xfrm>
          <a:prstGeom prst="roundRect">
            <a:avLst>
              <a:gd name="adj" fmla="val 25000"/>
            </a:avLst>
          </a:prstGeom>
          <a:solidFill>
            <a:srgbClr val="8E6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0" b="1" i="0">
                <a:solidFill>
                  <a:srgbClr val="FFFFFF"/>
                </a:solidFill>
                <a:latin typeface="Comic Sans MS"/>
              </a:rPr>
              <a:t>P 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4206240" cy="109728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4400" b="1" i="0">
                <a:solidFill>
                  <a:srgbClr val="8E6CEF"/>
                </a:solidFill>
                <a:latin typeface="Comic Sans MS"/>
              </a:rPr>
              <a:t>/p/  /p/  /p/</a:t>
            </a:r>
          </a:p>
        </p:txBody>
      </p:sp>
      <p:pic>
        <p:nvPicPr>
          <p:cNvPr id="5" name="Picture 4" descr="bob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097280"/>
            <a:ext cx="2194560" cy="2194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0" y="3657600"/>
            <a:ext cx="2194560" cy="82296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3400" b="1" i="0">
                <a:solidFill>
                  <a:srgbClr val="8E6CEF"/>
                </a:solidFill>
                <a:latin typeface="Comic Sans MS"/>
              </a:rPr>
              <a:t>p</a:t>
            </a:r>
            <a:r>
              <a:rPr sz="3400" b="1" i="0">
                <a:solidFill>
                  <a:srgbClr val="333333"/>
                </a:solidFill>
                <a:latin typeface="Comic Sans MS"/>
              </a:rPr>
              <a:t>uppet</a:t>
            </a:r>
          </a:p>
        </p:txBody>
      </p:sp>
      <p:pic>
        <p:nvPicPr>
          <p:cNvPr id="7" name="Picture 6" descr="po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1097280"/>
            <a:ext cx="2194560" cy="2194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3657600"/>
            <a:ext cx="2194560" cy="82296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3400" b="1" i="0">
                <a:solidFill>
                  <a:srgbClr val="8E6CEF"/>
                </a:solidFill>
                <a:latin typeface="Comic Sans MS"/>
              </a:rPr>
              <a:t>p</a:t>
            </a:r>
            <a:r>
              <a:rPr sz="3400" b="1" i="0">
                <a:solidFill>
                  <a:srgbClr val="333333"/>
                </a:solidFill>
                <a:latin typeface="Comic Sans MS"/>
              </a:rPr>
              <a:t>op</a:t>
            </a:r>
          </a:p>
        </p:txBody>
      </p:sp>
      <p:pic>
        <p:nvPicPr>
          <p:cNvPr id="9" name="Picture 8" descr="po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0" y="1097280"/>
            <a:ext cx="2194560" cy="2194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875520" y="3657600"/>
            <a:ext cx="2194560" cy="82296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3400" b="1" i="0">
                <a:solidFill>
                  <a:srgbClr val="8E6CEF"/>
                </a:solidFill>
                <a:latin typeface="Comic Sans MS"/>
              </a:rPr>
              <a:t>p</a:t>
            </a:r>
            <a:r>
              <a:rPr sz="3400" b="1" i="0">
                <a:solidFill>
                  <a:srgbClr val="333333"/>
                </a:solidFill>
                <a:latin typeface="Comic Sans MS"/>
              </a:rPr>
              <a:t>ot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18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548640"/>
            <a:ext cx="4389120" cy="2926080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0" b="1" i="0">
                <a:solidFill>
                  <a:srgbClr val="FFFFFF"/>
                </a:solidFill>
                <a:latin typeface="Comic Sans MS"/>
              </a:rPr>
              <a:t>O 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4206240" cy="109728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4400" b="1" i="0">
                <a:solidFill>
                  <a:srgbClr val="FF6B6B"/>
                </a:solidFill>
                <a:latin typeface="Comic Sans MS"/>
              </a:rPr>
              <a:t>/o/  /o/  /o/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0" y="914400"/>
            <a:ext cx="2194560" cy="25603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11000" b="1" i="0">
                <a:solidFill>
                  <a:srgbClr val="333333"/>
                </a:solidFill>
                <a:latin typeface="Comic Sans MS"/>
              </a:rPr>
              <a:t>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3657600"/>
            <a:ext cx="2194560" cy="82296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3400" b="1" i="0">
                <a:solidFill>
                  <a:srgbClr val="FF6B6B"/>
                </a:solidFill>
                <a:latin typeface="Comic Sans MS"/>
              </a:rPr>
              <a:t>o</a:t>
            </a:r>
            <a:r>
              <a:rPr sz="3400" b="1" i="0">
                <a:solidFill>
                  <a:srgbClr val="333333"/>
                </a:solidFill>
                <a:latin typeface="Comic Sans MS"/>
              </a:rPr>
              <a:t>ctopus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914400"/>
            <a:ext cx="2194560" cy="25603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11000" b="1" i="0">
                <a:solidFill>
                  <a:srgbClr val="333333"/>
                </a:solidFill>
                <a:latin typeface="Comic Sans MS"/>
              </a:rPr>
              <a:t>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657600"/>
            <a:ext cx="2194560" cy="82296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3400" b="1" i="0">
                <a:solidFill>
                  <a:srgbClr val="FF6B6B"/>
                </a:solidFill>
                <a:latin typeface="Comic Sans MS"/>
              </a:rPr>
              <a:t>o</a:t>
            </a:r>
            <a:r>
              <a:rPr sz="3400" b="1" i="0">
                <a:solidFill>
                  <a:srgbClr val="333333"/>
                </a:solidFill>
                <a:latin typeface="Comic Sans MS"/>
              </a:rPr>
              <a:t>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914400"/>
            <a:ext cx="2194560" cy="25603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11000" b="1" i="0">
                <a:solidFill>
                  <a:srgbClr val="333333"/>
                </a:solidFill>
                <a:latin typeface="Comic Sans MS"/>
              </a:rPr>
              <a:t>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3657600"/>
            <a:ext cx="2194560" cy="82296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3400" b="1" i="0">
                <a:solidFill>
                  <a:srgbClr val="FF6B6B"/>
                </a:solidFill>
                <a:latin typeface="Comic Sans MS"/>
              </a:rPr>
              <a:t>o</a:t>
            </a:r>
            <a:r>
              <a:rPr sz="3400" b="1" i="0">
                <a:solidFill>
                  <a:srgbClr val="333333"/>
                </a:solidFill>
                <a:latin typeface="Comic Sans MS"/>
              </a:rPr>
              <a:t>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5120640"/>
            <a:ext cx="6766560" cy="7315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2400" b="0" i="0">
                <a:solidFill>
                  <a:srgbClr val="777777"/>
                </a:solidFill>
                <a:latin typeface="微软雅黑"/>
              </a:rPr>
              <a:t>⭕ 嘴巴圆圆的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19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1247120" cy="914400"/>
          </a:xfrm>
          <a:prstGeom prst="roundRect">
            <a:avLst>
              <a:gd name="adj" fmla="val 25000"/>
            </a:avLst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400" b="1" i="0">
                <a:solidFill>
                  <a:srgbClr val="FFFFFF"/>
                </a:solidFill>
                <a:latin typeface="Comic Sans MS"/>
              </a:rPr>
              <a:t>👂  Listen!  Put the sounds together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1645920"/>
            <a:ext cx="2743200" cy="2743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8100"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645920"/>
            <a:ext cx="2743200" cy="2743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8100"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2743200" cy="2743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8100"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377440"/>
            <a:ext cx="9144000" cy="128016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8000" b="1" i="0">
                <a:solidFill>
                  <a:srgbClr val="333333"/>
                </a:solidFill>
                <a:latin typeface="Comic Sans MS"/>
              </a:rPr>
              <a:t>👏      👏      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4754880"/>
            <a:ext cx="9144000" cy="109728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5000" b="1" i="0">
                <a:solidFill>
                  <a:srgbClr val="1F3C88"/>
                </a:solidFill>
                <a:latin typeface="Comic Sans MS"/>
              </a:rPr>
              <a:t>/t/   /o/   /p/   →   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20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097280"/>
            <a:ext cx="2103120" cy="2103120"/>
          </a:xfrm>
          <a:prstGeom prst="roundRect">
            <a:avLst>
              <a:gd name="adj" fmla="val 25000"/>
            </a:avLst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0" b="1" i="0">
                <a:solidFill>
                  <a:srgbClr val="FFFFFF"/>
                </a:solidFill>
                <a:latin typeface="Comic Sans MS"/>
              </a:rPr>
              <a:t>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097280"/>
            <a:ext cx="2103120" cy="2103120"/>
          </a:xfrm>
          <a:prstGeom prst="roundRect">
            <a:avLst>
              <a:gd name="adj" fmla="val 25000"/>
            </a:avLst>
          </a:prstGeom>
          <a:solidFill>
            <a:srgbClr val="8E6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0" b="1" i="0">
                <a:solidFill>
                  <a:srgbClr val="FFFFFF"/>
                </a:solidFill>
                <a:latin typeface="Comic Sans MS"/>
              </a:rPr>
              <a:t>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77840" y="1097280"/>
            <a:ext cx="2103120" cy="2103120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0" b="1" i="0">
                <a:solidFill>
                  <a:srgbClr val="FFFFFF"/>
                </a:solidFill>
                <a:latin typeface="Comic Sans MS"/>
              </a:rPr>
              <a:t>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6858000" cy="82296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/>
            <a:r>
              <a:rPr sz="4000" b="1" i="0">
                <a:solidFill>
                  <a:srgbClr val="333333"/>
                </a:solidFill>
                <a:latin typeface="Comic Sans MS"/>
              </a:rPr>
              <a:t>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7132320" cy="109728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5000" b="1" i="0">
                <a:solidFill>
                  <a:srgbClr val="1F3C88"/>
                </a:solidFill>
                <a:latin typeface="Comic Sans MS"/>
              </a:rPr>
              <a:t>/t/  /o/  /p/  →  top</a:t>
            </a:r>
          </a:p>
        </p:txBody>
      </p:sp>
      <p:pic>
        <p:nvPicPr>
          <p:cNvPr id="8" name="Picture 7" descr="t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188719"/>
            <a:ext cx="3657600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38160" y="5303520"/>
            <a:ext cx="3657600" cy="91440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6000" b="1" i="0">
                <a:solidFill>
                  <a:srgbClr val="FF6B6B"/>
                </a:solidFill>
                <a:latin typeface="Comic Sans MS"/>
              </a:rPr>
              <a:t>top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21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097280"/>
            <a:ext cx="2103120" cy="2103120"/>
          </a:xfrm>
          <a:prstGeom prst="roundRect">
            <a:avLst>
              <a:gd name="adj" fmla="val 25000"/>
            </a:avLst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0" b="1" i="0">
                <a:solidFill>
                  <a:srgbClr val="FFFFFF"/>
                </a:solidFill>
                <a:latin typeface="Comic Sans MS"/>
              </a:rPr>
              <a:t>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097280"/>
            <a:ext cx="2103120" cy="2103120"/>
          </a:xfrm>
          <a:prstGeom prst="roundRect">
            <a:avLst>
              <a:gd name="adj" fmla="val 25000"/>
            </a:avLst>
          </a:prstGeom>
          <a:solidFill>
            <a:srgbClr val="8E6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0" b="1" i="0">
                <a:solidFill>
                  <a:srgbClr val="FFFFFF"/>
                </a:solidFill>
                <a:latin typeface="Comic Sans MS"/>
              </a:rPr>
              <a:t>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77840" y="1097280"/>
            <a:ext cx="2103120" cy="2103120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0" b="1" i="0">
                <a:solidFill>
                  <a:srgbClr val="FFFFFF"/>
                </a:solidFill>
                <a:latin typeface="Comic Sans MS"/>
              </a:rPr>
              <a:t>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6858000" cy="82296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/>
            <a:r>
              <a:rPr sz="4000" b="1" i="0">
                <a:solidFill>
                  <a:srgbClr val="333333"/>
                </a:solidFill>
                <a:latin typeface="Comic Sans MS"/>
              </a:rPr>
              <a:t>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7132320" cy="109728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5000" b="1" i="0">
                <a:solidFill>
                  <a:srgbClr val="1F3C88"/>
                </a:solidFill>
                <a:latin typeface="Comic Sans MS"/>
              </a:rPr>
              <a:t>/p/  /o/  /p/  →  pop</a:t>
            </a:r>
          </a:p>
        </p:txBody>
      </p:sp>
      <p:pic>
        <p:nvPicPr>
          <p:cNvPr id="8" name="Picture 7" descr="p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188719"/>
            <a:ext cx="3657600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38160" y="5303520"/>
            <a:ext cx="3657600" cy="91440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6000" b="1" i="0">
                <a:solidFill>
                  <a:srgbClr val="FF6B6B"/>
                </a:solidFill>
                <a:latin typeface="Comic Sans MS"/>
              </a:rPr>
              <a:t>pop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22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097280"/>
            <a:ext cx="2103120" cy="2103120"/>
          </a:xfrm>
          <a:prstGeom prst="roundRect">
            <a:avLst>
              <a:gd name="adj" fmla="val 25000"/>
            </a:avLst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0" b="1" i="0">
                <a:solidFill>
                  <a:srgbClr val="FFFFFF"/>
                </a:solidFill>
                <a:latin typeface="Comic Sans MS"/>
              </a:rPr>
              <a:t>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097280"/>
            <a:ext cx="2103120" cy="2103120"/>
          </a:xfrm>
          <a:prstGeom prst="roundRect">
            <a:avLst>
              <a:gd name="adj" fmla="val 25000"/>
            </a:avLst>
          </a:prstGeom>
          <a:solidFill>
            <a:srgbClr val="8E6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0" b="1" i="0">
                <a:solidFill>
                  <a:srgbClr val="FFFFFF"/>
                </a:solidFill>
                <a:latin typeface="Comic Sans MS"/>
              </a:rPr>
              <a:t>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77840" y="1097280"/>
            <a:ext cx="2103120" cy="2103120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0" b="1" i="0">
                <a:solidFill>
                  <a:srgbClr val="FFFFFF"/>
                </a:solidFill>
                <a:latin typeface="Comic Sans MS"/>
              </a:rPr>
              <a:t>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6858000" cy="82296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/>
            <a:r>
              <a:rPr sz="4000" b="1" i="0">
                <a:solidFill>
                  <a:srgbClr val="333333"/>
                </a:solidFill>
                <a:latin typeface="Comic Sans MS"/>
              </a:rPr>
              <a:t>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7132320" cy="109728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5000" b="1" i="0">
                <a:solidFill>
                  <a:srgbClr val="1F3C88"/>
                </a:solidFill>
                <a:latin typeface="Comic Sans MS"/>
              </a:rPr>
              <a:t>/p/  /o/  /t/  →  pot</a:t>
            </a:r>
          </a:p>
        </p:txBody>
      </p:sp>
      <p:pic>
        <p:nvPicPr>
          <p:cNvPr id="8" name="Picture 7" descr="p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188719"/>
            <a:ext cx="3657600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38160" y="5303520"/>
            <a:ext cx="3657600" cy="91440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6000" b="1" i="0">
                <a:solidFill>
                  <a:srgbClr val="FF6B6B"/>
                </a:solidFill>
                <a:latin typeface="Comic Sans MS"/>
              </a:rPr>
              <a:t>pot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C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23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1247120" cy="914400"/>
          </a:xfrm>
          <a:prstGeom prst="roundRect">
            <a:avLst>
              <a:gd name="adj" fmla="val 25000"/>
            </a:avLst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400" b="1" i="0">
                <a:solidFill>
                  <a:srgbClr val="FFFFFF"/>
                </a:solidFill>
                <a:latin typeface="Comic Sans MS"/>
              </a:rPr>
              <a:t>🎁  I can read!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486400" cy="2377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81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0" b="1" i="0">
                <a:solidFill>
                  <a:srgbClr val="1F3C88"/>
                </a:solidFill>
                <a:latin typeface="Comic Sans MS"/>
              </a:rPr>
              <a:t>t o p</a:t>
            </a:r>
          </a:p>
        </p:txBody>
      </p:sp>
      <p:pic>
        <p:nvPicPr>
          <p:cNvPr id="5" name="Picture 4" descr="t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188720"/>
            <a:ext cx="3017520" cy="3017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206240"/>
            <a:ext cx="10881360" cy="914400"/>
          </a:xfrm>
          <a:prstGeom prst="roundRect">
            <a:avLst>
              <a:gd name="adj" fmla="val 25000"/>
            </a:avLst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3400" b="1" i="0">
                <a:solidFill>
                  <a:srgbClr val="FFFFFF"/>
                </a:solidFill>
                <a:latin typeface="Comic Sans MS"/>
              </a:rPr>
              <a:t>Read it  →  the top is yours!  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5486400" cy="10972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81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6000" b="1" i="0">
                <a:solidFill>
                  <a:srgbClr val="FF6B6B"/>
                </a:solidFill>
                <a:latin typeface="Comic Sans MS"/>
              </a:rPr>
              <a:t>p o p</a:t>
            </a:r>
          </a:p>
        </p:txBody>
      </p:sp>
      <p:pic>
        <p:nvPicPr>
          <p:cNvPr id="8" name="Picture 7" descr="po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484632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24</a:t>
            </a:r>
          </a:p>
        </p:txBody>
      </p:sp>
      <p:pic>
        <p:nvPicPr>
          <p:cNvPr id="3" name="Picture 2" descr="p2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336" y="274320"/>
            <a:ext cx="4082527" cy="63093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132320" y="2011680"/>
            <a:ext cx="4754880" cy="21945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6000" b="1" i="0">
                <a:solidFill>
                  <a:srgbClr val="1F3C88"/>
                </a:solidFill>
                <a:latin typeface="Comic Sans MS"/>
              </a:rPr>
              <a:t>Toys</a:t>
            </a:r>
          </a:p>
          <a:p>
            <a:pPr algn="ctr"/>
            <a:r>
              <a:rPr sz="6000" b="1" i="0">
                <a:solidFill>
                  <a:srgbClr val="1F3C88"/>
                </a:solidFill>
                <a:latin typeface="Comic Sans MS"/>
              </a:rPr>
              <a:t>RAZ · Level aa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4572000"/>
            <a:ext cx="4754880" cy="822960"/>
          </a:xfrm>
          <a:prstGeom prst="roundRect">
            <a:avLst>
              <a:gd name="adj" fmla="val 25000"/>
            </a:avLst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600" b="1" i="0">
                <a:solidFill>
                  <a:srgbClr val="FFFFFF"/>
                </a:solidFill>
                <a:latin typeface="Comic Sans MS"/>
              </a:rPr>
              <a:t>👉  We read this way  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25</a:t>
            </a:r>
          </a:p>
        </p:txBody>
      </p:sp>
      <p:pic>
        <p:nvPicPr>
          <p:cNvPr id="3" name="Picture 2" descr="bloc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447" y="365760"/>
            <a:ext cx="4511504" cy="6035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2377440"/>
            <a:ext cx="4389120" cy="16459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6000" b="1" i="0">
                <a:solidFill>
                  <a:srgbClr val="777777"/>
                </a:solidFill>
                <a:latin typeface="Comic Sans MS"/>
              </a:rPr>
              <a:t>The </a:t>
            </a:r>
            <a:r>
              <a:rPr sz="6000" b="1" i="0">
                <a:solidFill>
                  <a:srgbClr val="1F3C88"/>
                </a:solidFill>
                <a:latin typeface="Comic Sans MS"/>
              </a:rPr>
              <a:t>blocks.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035040"/>
            <a:ext cx="4389120" cy="45720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1800" b="0" i="0">
                <a:solidFill>
                  <a:srgbClr val="777777"/>
                </a:solidFill>
                <a:latin typeface="Comic Sans MS"/>
              </a:rPr>
              <a:t>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26</a:t>
            </a:r>
          </a:p>
        </p:txBody>
      </p:sp>
      <p:pic>
        <p:nvPicPr>
          <p:cNvPr id="3" name="Picture 2" descr="b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995" y="365760"/>
            <a:ext cx="5574409" cy="6035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2377440"/>
            <a:ext cx="4389120" cy="16459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6000" b="1" i="0">
                <a:solidFill>
                  <a:srgbClr val="777777"/>
                </a:solidFill>
                <a:latin typeface="Comic Sans MS"/>
              </a:rPr>
              <a:t>The </a:t>
            </a:r>
            <a:r>
              <a:rPr sz="6000" b="1" i="0">
                <a:solidFill>
                  <a:srgbClr val="1F3C88"/>
                </a:solidFill>
                <a:latin typeface="Comic Sans MS"/>
              </a:rPr>
              <a:t>bear.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035040"/>
            <a:ext cx="4389120" cy="45720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1800" b="0" i="0">
                <a:solidFill>
                  <a:srgbClr val="777777"/>
                </a:solidFill>
                <a:latin typeface="Comic Sans MS"/>
              </a:rPr>
              <a:t>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27</a:t>
            </a:r>
          </a:p>
        </p:txBody>
      </p:sp>
      <p:pic>
        <p:nvPicPr>
          <p:cNvPr id="3" name="Picture 2" descr="pa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7548" y="365760"/>
            <a:ext cx="3257302" cy="6035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2377440"/>
            <a:ext cx="4389120" cy="16459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6000" b="1" i="0">
                <a:solidFill>
                  <a:srgbClr val="777777"/>
                </a:solidFill>
                <a:latin typeface="Comic Sans MS"/>
              </a:rPr>
              <a:t>The </a:t>
            </a:r>
            <a:r>
              <a:rPr sz="6000" b="1" i="0">
                <a:solidFill>
                  <a:srgbClr val="1F3C88"/>
                </a:solidFill>
                <a:latin typeface="Comic Sans MS"/>
              </a:rPr>
              <a:t>paint.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035040"/>
            <a:ext cx="4389120" cy="45720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1800" b="0" i="0">
                <a:solidFill>
                  <a:srgbClr val="777777"/>
                </a:solidFill>
                <a:latin typeface="Comic Sans MS"/>
              </a:rPr>
              <a:t>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28</a:t>
            </a:r>
          </a:p>
        </p:txBody>
      </p:sp>
      <p:pic>
        <p:nvPicPr>
          <p:cNvPr id="3" name="Picture 2" descr="dr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05" y="365760"/>
            <a:ext cx="6199789" cy="6035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2377440"/>
            <a:ext cx="4389120" cy="16459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6000" b="1" i="0">
                <a:solidFill>
                  <a:srgbClr val="777777"/>
                </a:solidFill>
                <a:latin typeface="Comic Sans MS"/>
              </a:rPr>
              <a:t>The </a:t>
            </a:r>
            <a:r>
              <a:rPr sz="6000" b="1" i="0">
                <a:solidFill>
                  <a:srgbClr val="1F3C88"/>
                </a:solidFill>
                <a:latin typeface="Comic Sans MS"/>
              </a:rPr>
              <a:t>drum.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035040"/>
            <a:ext cx="4389120" cy="45720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1800" b="0" i="0">
                <a:solidFill>
                  <a:srgbClr val="777777"/>
                </a:solidFill>
                <a:latin typeface="Comic Sans MS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4297680"/>
            <a:ext cx="4389120" cy="822960"/>
          </a:xfrm>
          <a:prstGeom prst="roundRect">
            <a:avLst>
              <a:gd name="adj" fmla="val 25000"/>
            </a:avLst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3000" b="1" i="0">
                <a:solidFill>
                  <a:srgbClr val="FFFFFF"/>
                </a:solidFill>
                <a:latin typeface="Comic Sans MS"/>
              </a:rPr>
              <a:t>⭐  You read!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29</a:t>
            </a:r>
          </a:p>
        </p:txBody>
      </p:sp>
      <p:pic>
        <p:nvPicPr>
          <p:cNvPr id="3" name="Picture 2" descr="pl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51105"/>
            <a:ext cx="6858000" cy="44643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2377440"/>
            <a:ext cx="4389120" cy="16459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6000" b="1" i="0">
                <a:solidFill>
                  <a:srgbClr val="777777"/>
                </a:solidFill>
                <a:latin typeface="Comic Sans MS"/>
              </a:rPr>
              <a:t>The </a:t>
            </a:r>
            <a:r>
              <a:rPr sz="6000" b="1" i="0">
                <a:solidFill>
                  <a:srgbClr val="1F3C88"/>
                </a:solidFill>
                <a:latin typeface="Comic Sans MS"/>
              </a:rPr>
              <a:t>plane.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035040"/>
            <a:ext cx="4389120" cy="45720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1800" b="0" i="0">
                <a:solidFill>
                  <a:srgbClr val="777777"/>
                </a:solidFill>
                <a:latin typeface="Comic Sans MS"/>
              </a:rPr>
              <a:t>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30</a:t>
            </a:r>
          </a:p>
        </p:txBody>
      </p:sp>
      <p:pic>
        <p:nvPicPr>
          <p:cNvPr id="3" name="Picture 2" descr="wag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968" y="365760"/>
            <a:ext cx="4588463" cy="6035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2377440"/>
            <a:ext cx="4389120" cy="16459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6000" b="1" i="0">
                <a:solidFill>
                  <a:srgbClr val="777777"/>
                </a:solidFill>
                <a:latin typeface="Comic Sans MS"/>
              </a:rPr>
              <a:t>The </a:t>
            </a:r>
            <a:r>
              <a:rPr sz="6000" b="1" i="0">
                <a:solidFill>
                  <a:srgbClr val="1F3C88"/>
                </a:solidFill>
                <a:latin typeface="Comic Sans MS"/>
              </a:rPr>
              <a:t>wagon.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035040"/>
            <a:ext cx="4389120" cy="45720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1800" b="0" i="0">
                <a:solidFill>
                  <a:srgbClr val="777777"/>
                </a:solidFill>
                <a:latin typeface="Comic Sans MS"/>
              </a:rPr>
              <a:t>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31</a:t>
            </a:r>
          </a:p>
        </p:txBody>
      </p:sp>
      <p:pic>
        <p:nvPicPr>
          <p:cNvPr id="3" name="Picture 2" descr="k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029" y="365760"/>
            <a:ext cx="5152341" cy="6035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2377440"/>
            <a:ext cx="4389120" cy="16459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6000" b="1" i="0">
                <a:solidFill>
                  <a:srgbClr val="777777"/>
                </a:solidFill>
                <a:latin typeface="Comic Sans MS"/>
              </a:rPr>
              <a:t>The </a:t>
            </a:r>
            <a:r>
              <a:rPr sz="6000" b="1" i="0">
                <a:solidFill>
                  <a:srgbClr val="1F3C88"/>
                </a:solidFill>
                <a:latin typeface="Comic Sans MS"/>
              </a:rPr>
              <a:t>kite.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035040"/>
            <a:ext cx="4389120" cy="45720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1800" b="0" i="0">
                <a:solidFill>
                  <a:srgbClr val="777777"/>
                </a:solidFill>
                <a:latin typeface="Comic Sans MS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4297680"/>
            <a:ext cx="4389120" cy="822960"/>
          </a:xfrm>
          <a:prstGeom prst="roundRect">
            <a:avLst>
              <a:gd name="adj" fmla="val 25000"/>
            </a:avLst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3000" b="1" i="0">
                <a:solidFill>
                  <a:srgbClr val="FFFFFF"/>
                </a:solidFill>
                <a:latin typeface="Comic Sans MS"/>
              </a:rPr>
              <a:t>⭐  You read!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32</a:t>
            </a:r>
          </a:p>
        </p:txBody>
      </p:sp>
      <p:pic>
        <p:nvPicPr>
          <p:cNvPr id="3" name="Picture 2" descr="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5024" y="365760"/>
            <a:ext cx="3762350" cy="6035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2377440"/>
            <a:ext cx="4389120" cy="16459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6000" b="1" i="0">
                <a:solidFill>
                  <a:srgbClr val="777777"/>
                </a:solidFill>
                <a:latin typeface="Comic Sans MS"/>
              </a:rPr>
              <a:t>The </a:t>
            </a:r>
            <a:r>
              <a:rPr sz="6000" b="1" i="0">
                <a:solidFill>
                  <a:srgbClr val="1F3C88"/>
                </a:solidFill>
                <a:latin typeface="Comic Sans MS"/>
              </a:rPr>
              <a:t>robot.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035040"/>
            <a:ext cx="4389120" cy="45720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1800" b="0" i="0">
                <a:solidFill>
                  <a:srgbClr val="777777"/>
                </a:solidFill>
                <a:latin typeface="Comic Sans M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4297680"/>
            <a:ext cx="4389120" cy="822960"/>
          </a:xfrm>
          <a:prstGeom prst="roundRect">
            <a:avLst>
              <a:gd name="adj" fmla="val 25000"/>
            </a:avLst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3000" b="1" i="0">
                <a:solidFill>
                  <a:srgbClr val="FFFFFF"/>
                </a:solidFill>
                <a:latin typeface="Comic Sans MS"/>
              </a:rPr>
              <a:t>⭐  You read!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C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33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1247120" cy="914400"/>
          </a:xfrm>
          <a:prstGeom prst="roundRect">
            <a:avLst>
              <a:gd name="adj" fmla="val 25000"/>
            </a:avLst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400" b="1" i="0">
                <a:solidFill>
                  <a:srgbClr val="FFFFFF"/>
                </a:solidFill>
                <a:latin typeface="Comic Sans MS"/>
              </a:rPr>
              <a:t>⭐  Find  the  🔍  and  /p/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657600" cy="1645920"/>
          </a:xfrm>
          <a:prstGeom prst="roundRect">
            <a:avLst>
              <a:gd name="adj" fmla="val 25000"/>
            </a:avLst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9000" b="1" i="0">
                <a:solidFill>
                  <a:srgbClr val="FFFFFF"/>
                </a:solidFill>
                <a:latin typeface="Comic Sans MS"/>
              </a:rPr>
              <a:t>the</a:t>
            </a:r>
          </a:p>
        </p:txBody>
      </p:sp>
      <p:pic>
        <p:nvPicPr>
          <p:cNvPr id="5" name="Picture 4" descr="pa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884" y="1280160"/>
            <a:ext cx="1776710" cy="3291840"/>
          </a:xfrm>
          <a:prstGeom prst="rect">
            <a:avLst/>
          </a:prstGeom>
        </p:spPr>
      </p:pic>
      <p:pic>
        <p:nvPicPr>
          <p:cNvPr id="6" name="Picture 5" descr="pla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854636"/>
            <a:ext cx="3291839" cy="21428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0" y="4754880"/>
            <a:ext cx="3291840" cy="82296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4000" b="1" i="0">
                <a:solidFill>
                  <a:srgbClr val="8E6CEF"/>
                </a:solidFill>
                <a:latin typeface="Comic Sans MS"/>
              </a:rPr>
              <a:t>p</a:t>
            </a:r>
            <a:r>
              <a:rPr sz="4000" b="1" i="0">
                <a:solidFill>
                  <a:srgbClr val="333333"/>
                </a:solidFill>
                <a:latin typeface="Comic Sans MS"/>
              </a:rPr>
              <a:t>aint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754880"/>
            <a:ext cx="3291840" cy="82296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4000" b="1" i="0">
                <a:solidFill>
                  <a:srgbClr val="8E6CEF"/>
                </a:solidFill>
                <a:latin typeface="Comic Sans MS"/>
              </a:rPr>
              <a:t>p</a:t>
            </a:r>
            <a:r>
              <a:rPr sz="4000" b="1" i="0">
                <a:solidFill>
                  <a:srgbClr val="333333"/>
                </a:solidFill>
                <a:latin typeface="Comic Sans MS"/>
              </a:rPr>
              <a:t>lane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10972800" cy="7315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2800" b="0" i="0">
                <a:solidFill>
                  <a:srgbClr val="777777"/>
                </a:solidFill>
                <a:latin typeface="Comic Sans MS"/>
              </a:rPr>
              <a:t>Is there a top in the book?  🤔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34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1247120" cy="914400"/>
          </a:xfrm>
          <a:prstGeom prst="roundRect">
            <a:avLst>
              <a:gd name="adj" fmla="val 25000"/>
            </a:avLst>
          </a:prstGeom>
          <a:solidFill>
            <a:srgbClr val="2D9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400" b="1" i="0">
                <a:solidFill>
                  <a:srgbClr val="FFFFFF"/>
                </a:solidFill>
                <a:latin typeface="Comic Sans MS"/>
              </a:rPr>
              <a:t>✏️  My page:  The top.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2103120"/>
            <a:ext cx="10698480" cy="0"/>
          </a:xfrm>
          <a:prstGeom prst="line">
            <a:avLst/>
          </a:prstGeom>
          <a:ln w="31750">
            <a:solidFill>
              <a:srgbClr val="2D9C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1520" y="2834640"/>
            <a:ext cx="10698480" cy="0"/>
          </a:xfrm>
          <a:prstGeom prst="line">
            <a:avLst/>
          </a:prstGeom>
          <a:ln w="3175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31520" y="3566160"/>
            <a:ext cx="10698480" cy="0"/>
          </a:xfrm>
          <a:prstGeom prst="line">
            <a:avLst/>
          </a:prstGeom>
          <a:ln w="31750">
            <a:solidFill>
              <a:srgbClr val="FF6B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1520" y="4297680"/>
            <a:ext cx="10698480" cy="0"/>
          </a:xfrm>
          <a:prstGeom prst="line">
            <a:avLst/>
          </a:prstGeom>
          <a:ln w="31750">
            <a:solidFill>
              <a:srgbClr val="2D9C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2011680"/>
            <a:ext cx="10972800" cy="23774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12000" b="0" i="0">
                <a:solidFill>
                  <a:srgbClr val="BBBBBB"/>
                </a:solidFill>
                <a:latin typeface="Comic Sans MS"/>
              </a:rPr>
              <a:t>The top.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10972800" cy="82296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3000" b="0" i="0">
                <a:solidFill>
                  <a:srgbClr val="777777"/>
                </a:solidFill>
                <a:latin typeface="Comic Sans MS"/>
              </a:rPr>
              <a:t>Big  T    ·    ● dot at the end</a:t>
            </a:r>
          </a:p>
        </p:txBody>
      </p:sp>
      <p:pic>
        <p:nvPicPr>
          <p:cNvPr id="10" name="Picture 9" descr="t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914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35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1247120" cy="914400"/>
          </a:xfrm>
          <a:prstGeom prst="roundRect">
            <a:avLst>
              <a:gd name="adj" fmla="val 25000"/>
            </a:avLst>
          </a:prstGeom>
          <a:solidFill>
            <a:srgbClr val="8E6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400" b="1" i="0">
                <a:solidFill>
                  <a:srgbClr val="FFFFFF"/>
                </a:solidFill>
                <a:latin typeface="Comic Sans MS"/>
              </a:rPr>
              <a:t>🎤  I can read!  Show time</a:t>
            </a:r>
          </a:p>
        </p:txBody>
      </p:sp>
      <p:pic>
        <p:nvPicPr>
          <p:cNvPr id="4" name="Picture 3" descr="troph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3108960" cy="3108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023360" y="1371600"/>
            <a:ext cx="7680960" cy="12801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8100"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>1  The ____ .   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2834640"/>
            <a:ext cx="7680960" cy="12801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8100"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>2  The top.   ✏️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4297680"/>
            <a:ext cx="7680960" cy="12801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8100"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>3  🪀  My top!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760720"/>
            <a:ext cx="11155680" cy="822960"/>
          </a:xfrm>
          <a:prstGeom prst="roundRect">
            <a:avLst>
              <a:gd name="adj" fmla="val 25000"/>
            </a:avLst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3200" b="1" i="0">
                <a:solidFill>
                  <a:srgbClr val="FFFFFF"/>
                </a:solidFill>
                <a:latin typeface="Comic Sans MS"/>
              </a:rPr>
              <a:t>👏  You can read!</a:t>
            </a:r>
          </a:p>
        </p:txBody>
      </p:sp>
      <p:pic>
        <p:nvPicPr>
          <p:cNvPr id="9" name="Carefree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74320" y="6035040"/>
            <a:ext cx="640080" cy="640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126479"/>
            <a:ext cx="3200400" cy="45720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微软雅黑"/>
              </a:rPr>
              <a:t>背景音乐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36</a:t>
            </a:r>
          </a:p>
        </p:txBody>
      </p:sp>
      <p:pic>
        <p:nvPicPr>
          <p:cNvPr id="3" name="Picture 2" descr="bob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0160"/>
            <a:ext cx="4572000" cy="4572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69280" y="2011680"/>
            <a:ext cx="6035040" cy="25603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8100"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5400" b="1" i="0">
                <a:solidFill>
                  <a:srgbClr val="333333"/>
                </a:solidFill>
                <a:latin typeface="Comic Sans MS"/>
              </a:rPr>
              <a:t>Goodbye, Momo!</a:t>
            </a:r>
          </a:p>
          <a:p>
            <a:pPr algn="ctr"/>
            <a:r>
              <a:rPr sz="5400" b="1" i="0">
                <a:solidFill>
                  <a:srgbClr val="333333"/>
                </a:solidFill>
                <a:latin typeface="Comic Sans MS"/>
              </a:rPr>
              <a:t>👋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37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1247120" cy="914400"/>
          </a:xfrm>
          <a:prstGeom prst="roundRect">
            <a:avLst>
              <a:gd name="adj" fmla="val 25000"/>
            </a:avLst>
          </a:prstGeom>
          <a:solidFill>
            <a:srgbClr val="8E6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400" b="1" i="0">
                <a:solidFill>
                  <a:srgbClr val="FFFFFF"/>
                </a:solidFill>
                <a:latin typeface="Comic Sans MS"/>
              </a:rPr>
              <a:t>🏠  今天我们学了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743200" cy="1005840"/>
          </a:xfrm>
          <a:prstGeom prst="roundRect">
            <a:avLst>
              <a:gd name="adj" fmla="val 25000"/>
            </a:avLst>
          </a:prstGeom>
          <a:solidFill>
            <a:srgbClr val="8E6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600" b="1" i="0">
                <a:solidFill>
                  <a:srgbClr val="FFFFFF"/>
                </a:solidFill>
                <a:latin typeface="微软雅黑"/>
              </a:rPr>
              <a:t>🧸 单词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371600"/>
            <a:ext cx="8229600" cy="10058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2400" b="0" i="0">
                <a:solidFill>
                  <a:srgbClr val="333333"/>
                </a:solidFill>
                <a:latin typeface="微软雅黑"/>
              </a:rPr>
              <a:t>ball, top, drum, kite, robot, puppet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06040"/>
            <a:ext cx="2743200" cy="1005840"/>
          </a:xfrm>
          <a:prstGeom prst="roundRect">
            <a:avLst>
              <a:gd name="adj" fmla="val 25000"/>
            </a:avLst>
          </a:prstGeom>
          <a:solidFill>
            <a:srgbClr val="8E6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600" b="1" i="0">
                <a:solidFill>
                  <a:srgbClr val="FFFFFF"/>
                </a:solidFill>
                <a:latin typeface="微软雅黑"/>
              </a:rPr>
              <a:t>💬 句子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606040"/>
            <a:ext cx="8229600" cy="10058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2400" b="0" i="0">
                <a:solidFill>
                  <a:srgbClr val="333333"/>
                </a:solidFill>
                <a:latin typeface="微软雅黑"/>
              </a:rPr>
              <a:t>Do you want a ___? — Yes, I do. / No, I don't. I want a ___.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40480"/>
            <a:ext cx="2743200" cy="1005840"/>
          </a:xfrm>
          <a:prstGeom prst="roundRect">
            <a:avLst>
              <a:gd name="adj" fmla="val 25000"/>
            </a:avLst>
          </a:prstGeom>
          <a:solidFill>
            <a:srgbClr val="8E6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600" b="1" i="0">
                <a:solidFill>
                  <a:srgbClr val="FFFFFF"/>
                </a:solidFill>
                <a:latin typeface="微软雅黑"/>
              </a:rPr>
              <a:t>🔤 字母的声音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3840480"/>
            <a:ext cx="8229600" cy="10058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2400" b="0" i="0">
                <a:solidFill>
                  <a:srgbClr val="333333"/>
                </a:solidFill>
                <a:latin typeface="微软雅黑"/>
              </a:rPr>
              <a:t>t /t/　p /p/　o /o/　→ 拼读 top, pop, pot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074920"/>
            <a:ext cx="2743200" cy="1005840"/>
          </a:xfrm>
          <a:prstGeom prst="roundRect">
            <a:avLst>
              <a:gd name="adj" fmla="val 25000"/>
            </a:avLst>
          </a:prstGeom>
          <a:solidFill>
            <a:srgbClr val="8E6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600" b="1" i="0">
                <a:solidFill>
                  <a:srgbClr val="FFFFFF"/>
                </a:solidFill>
                <a:latin typeface="微软雅黑"/>
              </a:rPr>
              <a:t>📖 绘本 / 回家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5074920"/>
            <a:ext cx="8229600" cy="10058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2400" b="0" i="0">
                <a:solidFill>
                  <a:srgbClr val="333333"/>
                </a:solidFill>
                <a:latin typeface="微软雅黑"/>
              </a:rPr>
              <a:t>《Toys》每天读一遍（含自己写的第 9 页 The top.），录 30 秒发群；在纸上写 t o p 让孩子滑读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11480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/>
            <a:r>
              <a:rPr sz="2000" b="0" i="0">
                <a:solidFill>
                  <a:srgbClr val="777777"/>
                </a:solidFill>
                <a:latin typeface="微软雅黑"/>
              </a:rPr>
              <a:t>素材来源 Credits</a:t>
            </a:r>
          </a:p>
          <a:p>
            <a:pPr algn="l"/>
            <a:r>
              <a:rPr sz="2000" b="0" i="0">
                <a:solidFill>
                  <a:srgbClr val="777777"/>
                </a:solidFill>
                <a:latin typeface="微软雅黑"/>
              </a:rPr>
              <a:t>绘本页面：Reading A-Z《Toys》Level aa（Learning A-Z，课堂内部使用）</a:t>
            </a:r>
          </a:p>
          <a:p>
            <a:pPr algn="l"/>
            <a:r>
              <a:rPr sz="2000" b="0" i="0">
                <a:solidFill>
                  <a:srgbClr val="777777"/>
                </a:solidFill>
                <a:latin typeface="微软雅黑"/>
              </a:rPr>
              <a:t>音乐：Kevin MacLeod（incompetech.com），CC BY 4.0 —— Monkeys Spinning Monkeys / Sneaky Snitch / Fluffing a Duck / Carefree</a:t>
            </a:r>
          </a:p>
          <a:p>
            <a:pPr algn="l"/>
            <a:r>
              <a:rPr sz="2000" b="0" i="0">
                <a:solidFill>
                  <a:srgbClr val="777777"/>
                </a:solidFill>
                <a:latin typeface="微软雅黑"/>
              </a:rPr>
              <a:t>插画：AI 生成，供本课堂使用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